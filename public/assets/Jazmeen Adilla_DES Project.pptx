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Poppins"/>
      <p:regular r:id="rId40"/>
      <p:bold r:id="rId41"/>
      <p:italic r:id="rId42"/>
      <p:boldItalic r:id="rId43"/>
    </p:embeddedFont>
    <p:embeddedFont>
      <p:font typeface="Poppins Light"/>
      <p:regular r:id="rId44"/>
      <p:bold r:id="rId45"/>
      <p:italic r:id="rId46"/>
      <p:boldItalic r:id="rId47"/>
    </p:embeddedFont>
    <p:embeddedFont>
      <p:font typeface="Average"/>
      <p:regular r:id="rId48"/>
    </p:embeddedFont>
    <p:embeddedFont>
      <p:font typeface="Oswal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61DBF6-FFBF-4A1A-89B0-628AE016219D}">
  <a:tblStyle styleId="{4361DBF6-FFBF-4A1A-89B0-628AE01621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regular.fntdata"/><Relationship Id="rId42" Type="http://schemas.openxmlformats.org/officeDocument/2006/relationships/font" Target="fonts/Poppins-italic.fntdata"/><Relationship Id="rId41" Type="http://schemas.openxmlformats.org/officeDocument/2006/relationships/font" Target="fonts/Poppins-bold.fntdata"/><Relationship Id="rId44" Type="http://schemas.openxmlformats.org/officeDocument/2006/relationships/font" Target="fonts/PoppinsLight-regular.fntdata"/><Relationship Id="rId43" Type="http://schemas.openxmlformats.org/officeDocument/2006/relationships/font" Target="fonts/Poppins-boldItalic.fntdata"/><Relationship Id="rId46" Type="http://schemas.openxmlformats.org/officeDocument/2006/relationships/font" Target="fonts/PoppinsLight-italic.fntdata"/><Relationship Id="rId45" Type="http://schemas.openxmlformats.org/officeDocument/2006/relationships/font" Target="fonts/Poppins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verage-regular.fntdata"/><Relationship Id="rId47" Type="http://schemas.openxmlformats.org/officeDocument/2006/relationships/font" Target="fonts/PoppinsLight-boldItalic.fntdata"/><Relationship Id="rId49" Type="http://schemas.openxmlformats.org/officeDocument/2006/relationships/font" Target="fonts/Oswa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Oswa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c6f980f91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c6f980f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698a98646_2_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698a98646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698a98646_0_1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698a9864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698a98646_0_2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698a98646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698a98646_0_2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698a9864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68202f78f_0_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68202f78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698a98646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698a9864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698a98646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d698a9864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698a98646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d698a9864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698a98646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d698a9864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698a98646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698a9864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698a98646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d698a9864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698a98646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698a9864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698a98646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698a9864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698a98646_0_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698a9864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698a98646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d698a9864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698a98646_0_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d698a9864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d698a98646_1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d698a98646_1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698a98646_1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d698a98646_1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698a98646_7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698a98646_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c6f980f91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c6f980f9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698a98646_0_1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698a9864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698a98646_2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d698a98646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698a98646_0_19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698a98646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698a98646_0_2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698a98646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698a98646_0_2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d698a98646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698a98646_0_2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d698a9864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68202f78f_0_1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e68202f78f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e68202f78f_0_1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e68202f78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www.linkedin.com/in/jazmeen-adilla-8b8a462a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hyperlink" Target="https://public.tableau.com/app/profile/jazmeen.adilla/viz/JazmeenAdilla_DESProject_E-commerce2/Dashboard2?publish=yes" TargetMode="External"/><Relationship Id="rId5" Type="http://schemas.openxmlformats.org/officeDocument/2006/relationships/hyperlink" Target="https://colab.research.google.com/drive/1fixR8zyAZ25l2o6ZJU_wkfQRVBsI6zJc?usp=shari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hyperlink" Target="https://public.tableau.com/app/profile/jazmeen.adilla/viz/JazmeenAdilla_DESProject_E-commerce2/Dashboard2?publish=yes" TargetMode="Externa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hyperlink" Target="https://public.tableau.com/app/profile/jazmeen.adilla/viz/JazmeenAdilla_DESProject_E-commerce2/Dashboard2?publish=yes" TargetMode="External"/><Relationship Id="rId5" Type="http://schemas.openxmlformats.org/officeDocument/2006/relationships/hyperlink" Target="https://colab.research.google.com/drive/1fixR8zyAZ25l2o6ZJU_wkfQRVBsI6zJc?usp=shar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13.png"/><Relationship Id="rId6"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hyperlink" Target="https://public.tableau.com/app/profile/jazmeen.adilla/viz/JazmeenAdilla_DESProject_E-commerce2/Dashboard2?publish=yes" TargetMode="External"/><Relationship Id="rId5" Type="http://schemas.openxmlformats.org/officeDocument/2006/relationships/hyperlink" Target="https://colab.research.google.com/drive/1fixR8zyAZ25l2o6ZJU_wkfQRVBsI6zJc?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65335" y="1041900"/>
            <a:ext cx="37929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1400">
                <a:solidFill>
                  <a:srgbClr val="E69138"/>
                </a:solidFill>
                <a:latin typeface="Poppins"/>
                <a:ea typeface="Poppins"/>
                <a:cs typeface="Poppins"/>
                <a:sym typeface="Poppins"/>
              </a:rPr>
              <a:t>DATA EXPLORATION SPRINT</a:t>
            </a:r>
            <a:endParaRPr b="1" sz="1400">
              <a:solidFill>
                <a:srgbClr val="E69138"/>
              </a:solidFill>
              <a:latin typeface="Poppins"/>
              <a:ea typeface="Poppins"/>
              <a:cs typeface="Poppins"/>
              <a:sym typeface="Poppins"/>
            </a:endParaRPr>
          </a:p>
        </p:txBody>
      </p:sp>
      <p:sp>
        <p:nvSpPr>
          <p:cNvPr id="60" name="Google Shape;60;p13"/>
          <p:cNvSpPr txBox="1"/>
          <p:nvPr>
            <p:ph idx="1" type="subTitle"/>
          </p:nvPr>
        </p:nvSpPr>
        <p:spPr>
          <a:xfrm>
            <a:off x="937972" y="3264287"/>
            <a:ext cx="1929300" cy="48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E69138"/>
                </a:solidFill>
                <a:latin typeface="Poppins"/>
                <a:ea typeface="Poppins"/>
                <a:cs typeface="Poppins"/>
                <a:sym typeface="Poppins"/>
              </a:rPr>
              <a:t>Jazmeen Adilla</a:t>
            </a:r>
            <a:endParaRPr b="1" sz="1400">
              <a:solidFill>
                <a:srgbClr val="E69138"/>
              </a:solidFill>
              <a:latin typeface="Poppins"/>
              <a:ea typeface="Poppins"/>
              <a:cs typeface="Poppins"/>
              <a:sym typeface="Poppins"/>
            </a:endParaRPr>
          </a:p>
        </p:txBody>
      </p:sp>
      <p:pic>
        <p:nvPicPr>
          <p:cNvPr id="61" name="Google Shape;61;p13"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pic>
        <p:nvPicPr>
          <p:cNvPr id="62" name="Google Shape;62;p13"/>
          <p:cNvPicPr preferRelativeResize="0"/>
          <p:nvPr/>
        </p:nvPicPr>
        <p:blipFill>
          <a:blip r:embed="rId4">
            <a:alphaModFix/>
          </a:blip>
          <a:stretch>
            <a:fillRect/>
          </a:stretch>
        </p:blipFill>
        <p:spPr>
          <a:xfrm>
            <a:off x="3680482" y="4686276"/>
            <a:ext cx="288860" cy="311275"/>
          </a:xfrm>
          <a:prstGeom prst="rect">
            <a:avLst/>
          </a:prstGeom>
          <a:noFill/>
          <a:ln>
            <a:noFill/>
          </a:ln>
        </p:spPr>
      </p:pic>
      <p:sp>
        <p:nvSpPr>
          <p:cNvPr id="63" name="Google Shape;63;p13"/>
          <p:cNvSpPr txBox="1"/>
          <p:nvPr/>
        </p:nvSpPr>
        <p:spPr>
          <a:xfrm>
            <a:off x="3981895" y="4641808"/>
            <a:ext cx="168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rgbClr val="E69138"/>
                </a:solidFill>
                <a:latin typeface="Poppins"/>
                <a:ea typeface="Poppins"/>
                <a:cs typeface="Poppins"/>
                <a:sym typeface="Poppins"/>
                <a:hlinkClick r:id="rId5">
                  <a:extLst>
                    <a:ext uri="{A12FA001-AC4F-418D-AE19-62706E023703}">
                      <ahyp:hlinkClr val="tx"/>
                    </a:ext>
                  </a:extLst>
                </a:hlinkClick>
              </a:rPr>
              <a:t>Jazmeen Adilla</a:t>
            </a:r>
            <a:endParaRPr>
              <a:solidFill>
                <a:srgbClr val="E69138"/>
              </a:solidFill>
              <a:latin typeface="Poppins"/>
              <a:ea typeface="Poppins"/>
              <a:cs typeface="Poppins"/>
              <a:sym typeface="Poppins"/>
            </a:endParaRPr>
          </a:p>
        </p:txBody>
      </p:sp>
      <p:sp>
        <p:nvSpPr>
          <p:cNvPr id="64" name="Google Shape;64;p13"/>
          <p:cNvSpPr txBox="1"/>
          <p:nvPr/>
        </p:nvSpPr>
        <p:spPr>
          <a:xfrm>
            <a:off x="1113600" y="1534500"/>
            <a:ext cx="55389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rgbClr val="E69138"/>
                </a:solidFill>
                <a:latin typeface="Poppins"/>
                <a:ea typeface="Poppins"/>
                <a:cs typeface="Poppins"/>
                <a:sym typeface="Poppins"/>
              </a:rPr>
              <a:t>Analyzing &amp; Evaluating App Funnel </a:t>
            </a:r>
            <a:endParaRPr b="1" sz="3400">
              <a:solidFill>
                <a:srgbClr val="E69138"/>
              </a:solidFill>
              <a:latin typeface="Poppins"/>
              <a:ea typeface="Poppins"/>
              <a:cs typeface="Poppins"/>
              <a:sym typeface="Poppins"/>
            </a:endParaRPr>
          </a:p>
        </p:txBody>
      </p:sp>
      <p:sp>
        <p:nvSpPr>
          <p:cNvPr id="65" name="Google Shape;65;p13"/>
          <p:cNvSpPr/>
          <p:nvPr/>
        </p:nvSpPr>
        <p:spPr>
          <a:xfrm>
            <a:off x="5802754" y="-62726"/>
            <a:ext cx="6537900" cy="1534500"/>
          </a:xfrm>
          <a:prstGeom prst="chord">
            <a:avLst>
              <a:gd fmla="val 5111805" name="adj1"/>
              <a:gd fmla="val 16518420" name="adj2"/>
            </a:avLst>
          </a:prstGeom>
          <a:solidFill>
            <a:srgbClr val="F6B26B"/>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66" name="Google Shape;66;p13"/>
          <p:cNvSpPr txBox="1"/>
          <p:nvPr/>
        </p:nvSpPr>
        <p:spPr>
          <a:xfrm>
            <a:off x="326968" y="2745239"/>
            <a:ext cx="6327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E69138"/>
                </a:solidFill>
                <a:latin typeface="Poppins"/>
                <a:ea typeface="Poppins"/>
                <a:cs typeface="Poppins"/>
                <a:sym typeface="Poppins"/>
              </a:rPr>
              <a:t>E-CommerceU Platform | December 2019-December 2022</a:t>
            </a:r>
            <a:endParaRPr b="1" sz="1200">
              <a:solidFill>
                <a:srgbClr val="E69138"/>
              </a:solidFill>
              <a:latin typeface="Poppins"/>
              <a:ea typeface="Poppins"/>
              <a:cs typeface="Poppins"/>
              <a:sym typeface="Poppins"/>
            </a:endParaRPr>
          </a:p>
        </p:txBody>
      </p:sp>
      <p:cxnSp>
        <p:nvCxnSpPr>
          <p:cNvPr id="67" name="Google Shape;67;p13"/>
          <p:cNvCxnSpPr/>
          <p:nvPr/>
        </p:nvCxnSpPr>
        <p:spPr>
          <a:xfrm>
            <a:off x="1198675" y="3193575"/>
            <a:ext cx="5356800" cy="0"/>
          </a:xfrm>
          <a:prstGeom prst="straightConnector1">
            <a:avLst/>
          </a:prstGeom>
          <a:noFill/>
          <a:ln cap="flat" cmpd="sng" w="9525">
            <a:solidFill>
              <a:schemeClr val="dk2"/>
            </a:solidFill>
            <a:prstDash val="solid"/>
            <a:round/>
            <a:headEnd len="med" w="med" type="none"/>
            <a:tailEnd len="med" w="med" type="none"/>
          </a:ln>
        </p:spPr>
      </p:cxnSp>
      <p:sp>
        <p:nvSpPr>
          <p:cNvPr id="68" name="Google Shape;68;p13"/>
          <p:cNvSpPr txBox="1"/>
          <p:nvPr/>
        </p:nvSpPr>
        <p:spPr>
          <a:xfrm>
            <a:off x="511441" y="3583515"/>
            <a:ext cx="4646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E69138"/>
                </a:solidFill>
                <a:latin typeface="Poppins"/>
                <a:ea typeface="Poppins"/>
                <a:cs typeface="Poppins"/>
                <a:sym typeface="Poppins"/>
              </a:rPr>
              <a:t>Student at RevoU Next FEB26 | 16 April 2026</a:t>
            </a:r>
            <a:endParaRPr sz="1200">
              <a:solidFill>
                <a:srgbClr val="E69138"/>
              </a:solidFill>
              <a:latin typeface="Poppins"/>
              <a:ea typeface="Poppins"/>
              <a:cs typeface="Poppins"/>
              <a:sym typeface="Poppins"/>
            </a:endParaRPr>
          </a:p>
        </p:txBody>
      </p:sp>
      <p:sp>
        <p:nvSpPr>
          <p:cNvPr id="69" name="Google Shape;69;p13"/>
          <p:cNvSpPr/>
          <p:nvPr/>
        </p:nvSpPr>
        <p:spPr>
          <a:xfrm flipH="1">
            <a:off x="-3197870" y="4037002"/>
            <a:ext cx="6537900" cy="1534500"/>
          </a:xfrm>
          <a:prstGeom prst="chord">
            <a:avLst>
              <a:gd fmla="val 5111805" name="adj1"/>
              <a:gd fmla="val 16518420" name="adj2"/>
            </a:avLst>
          </a:prstGeom>
          <a:solidFill>
            <a:srgbClr val="F6B26B"/>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 name="Shape 73"/>
        <p:cNvGrpSpPr/>
        <p:nvPr/>
      </p:nvGrpSpPr>
      <p:grpSpPr>
        <a:xfrm>
          <a:off x="0" y="0"/>
          <a:ext cx="0" cy="0"/>
          <a:chOff x="0" y="0"/>
          <a:chExt cx="0" cy="0"/>
        </a:xfrm>
      </p:grpSpPr>
      <p:sp>
        <p:nvSpPr>
          <p:cNvPr id="74" name="Google Shape;74;p14"/>
          <p:cNvSpPr/>
          <p:nvPr/>
        </p:nvSpPr>
        <p:spPr>
          <a:xfrm>
            <a:off x="0" y="-7735"/>
            <a:ext cx="928200" cy="10287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75" name="Google Shape;75;p14"/>
          <p:cNvSpPr txBox="1"/>
          <p:nvPr>
            <p:ph type="title"/>
          </p:nvPr>
        </p:nvSpPr>
        <p:spPr>
          <a:xfrm>
            <a:off x="311700" y="340850"/>
            <a:ext cx="8170500" cy="40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E69138"/>
                </a:solidFill>
                <a:latin typeface="Poppins"/>
                <a:ea typeface="Poppins"/>
                <a:cs typeface="Poppins"/>
                <a:sym typeface="Poppins"/>
              </a:rPr>
              <a:t>Executive Summary: E-</a:t>
            </a:r>
            <a:r>
              <a:rPr b="1" lang="en" sz="1600">
                <a:solidFill>
                  <a:srgbClr val="E69138"/>
                </a:solidFill>
                <a:latin typeface="Poppins"/>
                <a:ea typeface="Poppins"/>
                <a:cs typeface="Poppins"/>
                <a:sym typeface="Poppins"/>
              </a:rPr>
              <a:t>CommerceU</a:t>
            </a:r>
            <a:r>
              <a:rPr b="1" lang="en" sz="1600">
                <a:solidFill>
                  <a:srgbClr val="E69138"/>
                </a:solidFill>
                <a:latin typeface="Poppins"/>
                <a:ea typeface="Poppins"/>
                <a:cs typeface="Poppins"/>
                <a:sym typeface="Poppins"/>
              </a:rPr>
              <a:t> December 2019 - December 2022</a:t>
            </a:r>
            <a:endParaRPr b="1" sz="1600">
              <a:solidFill>
                <a:srgbClr val="E69138"/>
              </a:solidFill>
              <a:latin typeface="Poppins"/>
              <a:ea typeface="Poppins"/>
              <a:cs typeface="Poppins"/>
              <a:sym typeface="Poppins"/>
            </a:endParaRPr>
          </a:p>
        </p:txBody>
      </p:sp>
      <p:pic>
        <p:nvPicPr>
          <p:cNvPr id="76" name="Google Shape;76;p14"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77" name="Google Shape;77;p14"/>
          <p:cNvSpPr/>
          <p:nvPr/>
        </p:nvSpPr>
        <p:spPr>
          <a:xfrm>
            <a:off x="793906" y="875168"/>
            <a:ext cx="2245500" cy="3033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69138"/>
                </a:solidFill>
                <a:latin typeface="Poppins"/>
                <a:ea typeface="Poppins"/>
                <a:cs typeface="Poppins"/>
                <a:sym typeface="Poppins"/>
              </a:rPr>
              <a:t>Focus of Analysis</a:t>
            </a:r>
            <a:endParaRPr b="1" sz="1000">
              <a:solidFill>
                <a:srgbClr val="E69138"/>
              </a:solidFill>
              <a:latin typeface="Poppins"/>
              <a:ea typeface="Poppins"/>
              <a:cs typeface="Poppins"/>
              <a:sym typeface="Poppins"/>
            </a:endParaRPr>
          </a:p>
        </p:txBody>
      </p:sp>
      <p:sp>
        <p:nvSpPr>
          <p:cNvPr id="78" name="Google Shape;78;p14"/>
          <p:cNvSpPr/>
          <p:nvPr/>
        </p:nvSpPr>
        <p:spPr>
          <a:xfrm>
            <a:off x="793906" y="1211443"/>
            <a:ext cx="2245500" cy="17562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Business Model: </a:t>
            </a:r>
            <a:endParaRPr b="1" sz="800">
              <a:solidFill>
                <a:srgbClr val="E69138"/>
              </a:solidFill>
              <a:latin typeface="Poppins"/>
              <a:ea typeface="Poppins"/>
              <a:cs typeface="Poppins"/>
              <a:sym typeface="Poppins"/>
            </a:endParaRPr>
          </a:p>
          <a:p>
            <a:pPr indent="0" lvl="0" marL="0" rtl="0" algn="l">
              <a:spcBef>
                <a:spcPts val="0"/>
              </a:spcBef>
              <a:spcAft>
                <a:spcPts val="0"/>
              </a:spcAft>
              <a:buNone/>
            </a:pPr>
            <a:r>
              <a:rPr b="1" lang="en" sz="800">
                <a:solidFill>
                  <a:srgbClr val="E69138"/>
                </a:solidFill>
                <a:latin typeface="Poppins"/>
                <a:ea typeface="Poppins"/>
                <a:cs typeface="Poppins"/>
                <a:sym typeface="Poppins"/>
              </a:rPr>
              <a:t>E-commerce platform dengan fokus pada</a:t>
            </a:r>
            <a:r>
              <a:rPr b="1" i="1" lang="en" sz="800">
                <a:solidFill>
                  <a:srgbClr val="E69138"/>
                </a:solidFill>
                <a:latin typeface="Poppins"/>
                <a:ea typeface="Poppins"/>
                <a:cs typeface="Poppins"/>
                <a:sym typeface="Poppins"/>
              </a:rPr>
              <a:t> high traffic acquisition</a:t>
            </a:r>
            <a:r>
              <a:rPr b="1" lang="en" sz="800">
                <a:solidFill>
                  <a:srgbClr val="E69138"/>
                </a:solidFill>
                <a:latin typeface="Poppins"/>
                <a:ea typeface="Poppins"/>
                <a:cs typeface="Poppins"/>
                <a:sym typeface="Poppins"/>
              </a:rPr>
              <a:t> &amp; </a:t>
            </a:r>
            <a:r>
              <a:rPr b="1" i="1" lang="en" sz="800">
                <a:solidFill>
                  <a:srgbClr val="E69138"/>
                </a:solidFill>
                <a:latin typeface="Poppins"/>
                <a:ea typeface="Poppins"/>
                <a:cs typeface="Poppins"/>
                <a:sym typeface="Poppins"/>
              </a:rPr>
              <a:t>digital conversion funnel</a:t>
            </a:r>
            <a:endParaRPr b="1" i="1" sz="800">
              <a:solidFill>
                <a:srgbClr val="E69138"/>
              </a:solidFill>
              <a:latin typeface="Poppins"/>
              <a:ea typeface="Poppins"/>
              <a:cs typeface="Poppins"/>
              <a:sym typeface="Poppins"/>
            </a:endParaRPr>
          </a:p>
          <a:p>
            <a:pPr indent="0" lvl="0" marL="0" rtl="0" algn="l">
              <a:spcBef>
                <a:spcPts val="0"/>
              </a:spcBef>
              <a:spcAft>
                <a:spcPts val="0"/>
              </a:spcAft>
              <a:buNone/>
            </a:pPr>
            <a:r>
              <a:t/>
            </a:r>
            <a:endParaRPr b="1" sz="800">
              <a:solidFill>
                <a:srgbClr val="E69138"/>
              </a:solidFill>
              <a:latin typeface="Poppins"/>
              <a:ea typeface="Poppins"/>
              <a:cs typeface="Poppins"/>
              <a:sym typeface="Poppins"/>
            </a:endParaRPr>
          </a:p>
          <a:p>
            <a:pPr indent="0" lvl="0" marL="0" rtl="0" algn="l">
              <a:spcBef>
                <a:spcPts val="0"/>
              </a:spcBef>
              <a:spcAft>
                <a:spcPts val="0"/>
              </a:spcAft>
              <a:buNone/>
            </a:pPr>
            <a:r>
              <a:rPr b="1" lang="en" sz="800">
                <a:solidFill>
                  <a:srgbClr val="E69138"/>
                </a:solidFill>
                <a:latin typeface="Poppins"/>
                <a:ea typeface="Poppins"/>
                <a:cs typeface="Poppins"/>
                <a:sym typeface="Poppins"/>
              </a:rPr>
              <a:t>Prioritas: </a:t>
            </a:r>
            <a:endParaRPr b="1" sz="800">
              <a:solidFill>
                <a:srgbClr val="E69138"/>
              </a:solidFill>
              <a:latin typeface="Poppins"/>
              <a:ea typeface="Poppins"/>
              <a:cs typeface="Poppins"/>
              <a:sym typeface="Poppins"/>
            </a:endParaRPr>
          </a:p>
          <a:p>
            <a:pPr indent="0" lvl="0" marL="0" rtl="0" algn="l">
              <a:spcBef>
                <a:spcPts val="0"/>
              </a:spcBef>
              <a:spcAft>
                <a:spcPts val="0"/>
              </a:spcAft>
              <a:buNone/>
            </a:pPr>
            <a:r>
              <a:rPr b="1" lang="en" sz="800">
                <a:solidFill>
                  <a:srgbClr val="E69138"/>
                </a:solidFill>
                <a:latin typeface="Poppins"/>
                <a:ea typeface="Poppins"/>
                <a:cs typeface="Poppins"/>
                <a:sym typeface="Poppins"/>
              </a:rPr>
              <a:t>- Meningkatkan conversion rate. -Menurunkan cart abandonment &amp; cancellation.</a:t>
            </a:r>
            <a:endParaRPr b="1" sz="800">
              <a:solidFill>
                <a:srgbClr val="E69138"/>
              </a:solidFill>
              <a:latin typeface="Poppins"/>
              <a:ea typeface="Poppins"/>
              <a:cs typeface="Poppins"/>
              <a:sym typeface="Poppins"/>
            </a:endParaRPr>
          </a:p>
          <a:p>
            <a:pPr indent="0" lvl="0" marL="0" rtl="0" algn="l">
              <a:spcBef>
                <a:spcPts val="0"/>
              </a:spcBef>
              <a:spcAft>
                <a:spcPts val="0"/>
              </a:spcAft>
              <a:buNone/>
            </a:pPr>
            <a:r>
              <a:rPr b="1" lang="en" sz="800">
                <a:solidFill>
                  <a:srgbClr val="E69138"/>
                </a:solidFill>
                <a:latin typeface="Poppins"/>
                <a:ea typeface="Poppins"/>
                <a:cs typeface="Poppins"/>
                <a:sym typeface="Poppins"/>
              </a:rPr>
              <a:t>-Mengoptimalkan customer journey dari session → completed transaction.</a:t>
            </a:r>
            <a:endParaRPr b="1">
              <a:solidFill>
                <a:srgbClr val="E69138"/>
              </a:solidFill>
              <a:latin typeface="Average"/>
              <a:ea typeface="Average"/>
              <a:cs typeface="Average"/>
              <a:sym typeface="Average"/>
            </a:endParaRPr>
          </a:p>
        </p:txBody>
      </p:sp>
      <p:sp>
        <p:nvSpPr>
          <p:cNvPr id="79" name="Google Shape;79;p14"/>
          <p:cNvSpPr/>
          <p:nvPr/>
        </p:nvSpPr>
        <p:spPr>
          <a:xfrm>
            <a:off x="3267156" y="875168"/>
            <a:ext cx="2245500" cy="3033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69138"/>
                </a:solidFill>
                <a:latin typeface="Poppins"/>
                <a:ea typeface="Poppins"/>
                <a:cs typeface="Poppins"/>
                <a:sym typeface="Poppins"/>
              </a:rPr>
              <a:t>Problem</a:t>
            </a:r>
            <a:endParaRPr b="1" sz="1000">
              <a:solidFill>
                <a:srgbClr val="E69138"/>
              </a:solidFill>
              <a:latin typeface="Poppins"/>
              <a:ea typeface="Poppins"/>
              <a:cs typeface="Poppins"/>
              <a:sym typeface="Poppins"/>
            </a:endParaRPr>
          </a:p>
        </p:txBody>
      </p:sp>
      <p:sp>
        <p:nvSpPr>
          <p:cNvPr id="80" name="Google Shape;80;p14"/>
          <p:cNvSpPr/>
          <p:nvPr/>
        </p:nvSpPr>
        <p:spPr>
          <a:xfrm>
            <a:off x="3267156" y="1211443"/>
            <a:ext cx="2245500" cy="17562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876"/>
              </a:spcAft>
              <a:buNone/>
            </a:pPr>
            <a:r>
              <a:rPr b="1" lang="en" sz="800">
                <a:solidFill>
                  <a:srgbClr val="E69138"/>
                </a:solidFill>
                <a:latin typeface="Poppins"/>
                <a:ea typeface="Poppins"/>
                <a:cs typeface="Poppins"/>
                <a:sym typeface="Poppins"/>
              </a:rPr>
              <a:t>Bagaimana EcommerceU dapat meningkatkan conversion rate minimal 15% dalam enam bulan kedepan dan menurunkan </a:t>
            </a:r>
            <a:r>
              <a:rPr b="1" lang="en" sz="800">
                <a:solidFill>
                  <a:srgbClr val="E69138"/>
                </a:solidFill>
                <a:latin typeface="Poppins"/>
                <a:ea typeface="Poppins"/>
                <a:cs typeface="Poppins"/>
                <a:sym typeface="Poppins"/>
              </a:rPr>
              <a:t>tingkat pembatalan transaksi dari ~35% menjadi di bawah 20% melalui identifikasi bottleneck pada customer funnel menggunakan data periode 2022–2023?</a:t>
            </a:r>
            <a:endParaRPr b="1">
              <a:solidFill>
                <a:srgbClr val="E69138"/>
              </a:solidFill>
              <a:latin typeface="Average"/>
              <a:ea typeface="Average"/>
              <a:cs typeface="Average"/>
              <a:sym typeface="Average"/>
            </a:endParaRPr>
          </a:p>
        </p:txBody>
      </p:sp>
      <p:sp>
        <p:nvSpPr>
          <p:cNvPr id="81" name="Google Shape;81;p14"/>
          <p:cNvSpPr/>
          <p:nvPr/>
        </p:nvSpPr>
        <p:spPr>
          <a:xfrm>
            <a:off x="5740406" y="875168"/>
            <a:ext cx="2245500" cy="3033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69138"/>
                </a:solidFill>
                <a:latin typeface="Poppins"/>
                <a:ea typeface="Poppins"/>
                <a:cs typeface="Poppins"/>
                <a:sym typeface="Poppins"/>
              </a:rPr>
              <a:t>Objective</a:t>
            </a:r>
            <a:endParaRPr b="1" sz="1000">
              <a:solidFill>
                <a:srgbClr val="E69138"/>
              </a:solidFill>
              <a:latin typeface="Poppins"/>
              <a:ea typeface="Poppins"/>
              <a:cs typeface="Poppins"/>
              <a:sym typeface="Poppins"/>
            </a:endParaRPr>
          </a:p>
        </p:txBody>
      </p:sp>
      <p:sp>
        <p:nvSpPr>
          <p:cNvPr id="82" name="Google Shape;82;p14"/>
          <p:cNvSpPr/>
          <p:nvPr/>
        </p:nvSpPr>
        <p:spPr>
          <a:xfrm>
            <a:off x="5740406" y="1211443"/>
            <a:ext cx="2245500" cy="17562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876"/>
              </a:spcAft>
              <a:buNone/>
            </a:pPr>
            <a:r>
              <a:rPr b="1" lang="en" sz="800">
                <a:solidFill>
                  <a:srgbClr val="E69138"/>
                </a:solidFill>
                <a:latin typeface="Poppins"/>
                <a:ea typeface="Poppins"/>
                <a:cs typeface="Poppins"/>
                <a:sym typeface="Poppins"/>
              </a:rPr>
              <a:t>Untuk mengidentifikasi strategi berbasis data yang dapat meningkatkan conversion rate dengan mengoptimalkan customer journey dari session hingga completed transaction, mengurangi cart abandonment dan cancellation, serta meningkatkan efisiensi funnel guna memaksimalkan revenue EcommerceU.</a:t>
            </a:r>
            <a:endParaRPr b="1">
              <a:solidFill>
                <a:srgbClr val="E69138"/>
              </a:solidFill>
              <a:latin typeface="Average"/>
              <a:ea typeface="Average"/>
              <a:cs typeface="Average"/>
              <a:sym typeface="Average"/>
            </a:endParaRPr>
          </a:p>
        </p:txBody>
      </p:sp>
      <p:sp>
        <p:nvSpPr>
          <p:cNvPr id="83" name="Google Shape;83;p14"/>
          <p:cNvSpPr/>
          <p:nvPr/>
        </p:nvSpPr>
        <p:spPr>
          <a:xfrm>
            <a:off x="1385381" y="3059868"/>
            <a:ext cx="2482200" cy="3033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69138"/>
                </a:solidFill>
                <a:latin typeface="Poppins"/>
                <a:ea typeface="Poppins"/>
                <a:cs typeface="Poppins"/>
                <a:sym typeface="Poppins"/>
              </a:rPr>
              <a:t>Top Analytical Findings</a:t>
            </a:r>
            <a:endParaRPr b="1" sz="1000">
              <a:solidFill>
                <a:srgbClr val="E69138"/>
              </a:solidFill>
              <a:latin typeface="Poppins"/>
              <a:ea typeface="Poppins"/>
              <a:cs typeface="Poppins"/>
              <a:sym typeface="Poppins"/>
            </a:endParaRPr>
          </a:p>
        </p:txBody>
      </p:sp>
      <p:sp>
        <p:nvSpPr>
          <p:cNvPr id="84" name="Google Shape;84;p14"/>
          <p:cNvSpPr/>
          <p:nvPr/>
        </p:nvSpPr>
        <p:spPr>
          <a:xfrm>
            <a:off x="1385381" y="3396143"/>
            <a:ext cx="2482200" cy="17562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Major drop at checkout stages</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High Cart Abandonment: Users drop after adding to cart</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High Cancellation Rate: Payment Friction</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Session Quality Matters: Higher engagement → higher conversion</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Traffic Quality Gap: Not all channels convert equally</a:t>
            </a:r>
            <a:endParaRPr b="1" sz="800">
              <a:solidFill>
                <a:srgbClr val="E69138"/>
              </a:solidFill>
              <a:latin typeface="Poppins"/>
              <a:ea typeface="Poppins"/>
              <a:cs typeface="Poppins"/>
              <a:sym typeface="Poppins"/>
            </a:endParaRPr>
          </a:p>
        </p:txBody>
      </p:sp>
      <p:sp>
        <p:nvSpPr>
          <p:cNvPr id="85" name="Google Shape;85;p14"/>
          <p:cNvSpPr/>
          <p:nvPr/>
        </p:nvSpPr>
        <p:spPr>
          <a:xfrm>
            <a:off x="4360431" y="3059868"/>
            <a:ext cx="2482200" cy="3033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69138"/>
                </a:solidFill>
                <a:latin typeface="Poppins"/>
                <a:ea typeface="Poppins"/>
                <a:cs typeface="Poppins"/>
                <a:sym typeface="Poppins"/>
              </a:rPr>
              <a:t>Strategic Recommendation</a:t>
            </a:r>
            <a:endParaRPr b="1" sz="1000">
              <a:solidFill>
                <a:srgbClr val="E69138"/>
              </a:solidFill>
              <a:latin typeface="Poppins"/>
              <a:ea typeface="Poppins"/>
              <a:cs typeface="Poppins"/>
              <a:sym typeface="Poppins"/>
            </a:endParaRPr>
          </a:p>
        </p:txBody>
      </p:sp>
      <p:sp>
        <p:nvSpPr>
          <p:cNvPr id="86" name="Google Shape;86;p14"/>
          <p:cNvSpPr/>
          <p:nvPr/>
        </p:nvSpPr>
        <p:spPr>
          <a:xfrm>
            <a:off x="4360431" y="3396143"/>
            <a:ext cx="2482200" cy="17562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Simplify Checkout Flow → reduce steps &amp; show total cost early</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Improve Payment System → add methods &amp; reduce failures</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Recover Abandoned Cart → reminders, promo, urgency</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Optimize Traffic Sources → focus on high-converting sources</a:t>
            </a:r>
            <a:endParaRPr b="1" sz="800">
              <a:solidFill>
                <a:srgbClr val="E69138"/>
              </a:solidFill>
              <a:latin typeface="Poppins"/>
              <a:ea typeface="Poppins"/>
              <a:cs typeface="Poppins"/>
              <a:sym typeface="Poppins"/>
            </a:endParaRPr>
          </a:p>
          <a:p>
            <a:pPr indent="-279400" lvl="0" marL="457200" rtl="0" algn="just">
              <a:spcBef>
                <a:spcPts val="0"/>
              </a:spcBef>
              <a:spcAft>
                <a:spcPts val="0"/>
              </a:spcAft>
              <a:buClr>
                <a:srgbClr val="E69138"/>
              </a:buClr>
              <a:buSzPts val="800"/>
              <a:buFont typeface="Poppins"/>
              <a:buChar char="-"/>
            </a:pPr>
            <a:r>
              <a:rPr b="1" lang="en" sz="800">
                <a:solidFill>
                  <a:srgbClr val="E69138"/>
                </a:solidFill>
                <a:latin typeface="Poppins"/>
                <a:ea typeface="Poppins"/>
                <a:cs typeface="Poppins"/>
                <a:sym typeface="Poppins"/>
              </a:rPr>
              <a:t>Target High-Intent Users → remarketing &amp; personalization</a:t>
            </a:r>
            <a:endParaRPr b="1" sz="800">
              <a:solidFill>
                <a:srgbClr val="E69138"/>
              </a:solidFill>
              <a:latin typeface="Poppins"/>
              <a:ea typeface="Poppins"/>
              <a:cs typeface="Poppins"/>
              <a:sym typeface="Poppins"/>
            </a:endParaRPr>
          </a:p>
        </p:txBody>
      </p:sp>
      <p:cxnSp>
        <p:nvCxnSpPr>
          <p:cNvPr id="87" name="Google Shape;87;p14"/>
          <p:cNvCxnSpPr/>
          <p:nvPr/>
        </p:nvCxnSpPr>
        <p:spPr>
          <a:xfrm flipH="1" rot="10800000">
            <a:off x="781374" y="747225"/>
            <a:ext cx="7276200" cy="12600"/>
          </a:xfrm>
          <a:prstGeom prst="straightConnector1">
            <a:avLst/>
          </a:prstGeom>
          <a:noFill/>
          <a:ln cap="flat" cmpd="sng" w="9525">
            <a:solidFill>
              <a:schemeClr val="dk2"/>
            </a:solidFill>
            <a:prstDash val="solid"/>
            <a:round/>
            <a:headEnd len="med" w="med" type="none"/>
            <a:tailEnd len="med" w="med" type="none"/>
          </a:ln>
        </p:spPr>
      </p:cxnSp>
      <p:sp>
        <p:nvSpPr>
          <p:cNvPr id="88" name="Google Shape;88;p14"/>
          <p:cNvSpPr/>
          <p:nvPr/>
        </p:nvSpPr>
        <p:spPr>
          <a:xfrm rot="-5400000">
            <a:off x="50250" y="4165050"/>
            <a:ext cx="928200" cy="10287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89" name="Google Shape;89;p14"/>
          <p:cNvSpPr/>
          <p:nvPr/>
        </p:nvSpPr>
        <p:spPr>
          <a:xfrm flipH="1" rot="5400000">
            <a:off x="8165550" y="4173900"/>
            <a:ext cx="928200" cy="10287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90" name="Google Shape;90;p14"/>
          <p:cNvSpPr/>
          <p:nvPr/>
        </p:nvSpPr>
        <p:spPr>
          <a:xfrm rot="5400000">
            <a:off x="8165550" y="-57975"/>
            <a:ext cx="928200" cy="10287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4" name="Shape 94"/>
        <p:cNvGrpSpPr/>
        <p:nvPr/>
      </p:nvGrpSpPr>
      <p:grpSpPr>
        <a:xfrm>
          <a:off x="0" y="0"/>
          <a:ext cx="0" cy="0"/>
          <a:chOff x="0" y="0"/>
          <a:chExt cx="0" cy="0"/>
        </a:xfrm>
      </p:grpSpPr>
      <p:pic>
        <p:nvPicPr>
          <p:cNvPr id="95" name="Google Shape;95;p15"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96" name="Google Shape;96;p15"/>
          <p:cNvSpPr txBox="1"/>
          <p:nvPr/>
        </p:nvSpPr>
        <p:spPr>
          <a:xfrm>
            <a:off x="258300" y="810790"/>
            <a:ext cx="3293700" cy="1293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3000">
                <a:solidFill>
                  <a:srgbClr val="E69138"/>
                </a:solidFill>
                <a:latin typeface="Poppins"/>
                <a:ea typeface="Poppins"/>
                <a:cs typeface="Poppins"/>
                <a:sym typeface="Poppins"/>
              </a:rPr>
              <a:t>Business Overview &amp; Background</a:t>
            </a:r>
            <a:endParaRPr b="1" sz="3000">
              <a:solidFill>
                <a:srgbClr val="E69138"/>
              </a:solidFill>
              <a:latin typeface="Poppins"/>
              <a:ea typeface="Poppins"/>
              <a:cs typeface="Poppins"/>
              <a:sym typeface="Poppins"/>
            </a:endParaRPr>
          </a:p>
        </p:txBody>
      </p:sp>
      <p:sp>
        <p:nvSpPr>
          <p:cNvPr id="97" name="Google Shape;97;p15"/>
          <p:cNvSpPr txBox="1"/>
          <p:nvPr/>
        </p:nvSpPr>
        <p:spPr>
          <a:xfrm>
            <a:off x="2830200" y="635290"/>
            <a:ext cx="6313800" cy="1644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1200">
                <a:solidFill>
                  <a:srgbClr val="E69138"/>
                </a:solidFill>
                <a:latin typeface="Poppins"/>
                <a:ea typeface="Poppins"/>
                <a:cs typeface="Poppins"/>
                <a:sym typeface="Poppins"/>
              </a:rPr>
              <a:t>EcommerceU</a:t>
            </a:r>
            <a:r>
              <a:rPr lang="en" sz="1200">
                <a:solidFill>
                  <a:srgbClr val="E69138"/>
                </a:solidFill>
                <a:latin typeface="Poppins"/>
                <a:ea typeface="Poppins"/>
                <a:cs typeface="Poppins"/>
                <a:sym typeface="Poppins"/>
              </a:rPr>
              <a:t> merupakan platform e-commerce yang berfokus pada peningkatan pengalaman pelanggan dan optimalisasi konversi dari setiap kunjungan menjadi transaksi. Meskipun memiliki traffic pengguna yang tinggi, masih terdapat tantangan dalam efisiensi funnel, khususnya pada tahap checkout dan pembayaran. Oleh karena itu, analisis data dilakukan untuk mengidentifikasi bottleneck dalam customer journey serta memberikan rekomendasi strategis guna meningkatkan conversion rate dan revenue.</a:t>
            </a:r>
            <a:endParaRPr sz="1200">
              <a:solidFill>
                <a:srgbClr val="E69138"/>
              </a:solidFill>
              <a:latin typeface="Poppins"/>
              <a:ea typeface="Poppins"/>
              <a:cs typeface="Poppins"/>
              <a:sym typeface="Poppins"/>
            </a:endParaRPr>
          </a:p>
        </p:txBody>
      </p:sp>
      <p:sp>
        <p:nvSpPr>
          <p:cNvPr id="98" name="Google Shape;98;p15"/>
          <p:cNvSpPr/>
          <p:nvPr/>
        </p:nvSpPr>
        <p:spPr>
          <a:xfrm>
            <a:off x="417550" y="2365594"/>
            <a:ext cx="8631000" cy="2760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E69138"/>
                </a:solidFill>
                <a:latin typeface="Poppins"/>
                <a:ea typeface="Poppins"/>
                <a:cs typeface="Poppins"/>
                <a:sym typeface="Poppins"/>
              </a:rPr>
              <a:t>Terdapat tiga faktor eksternal (Business Context) yang perlu dipahami sebelum membaca data, yaitu:</a:t>
            </a:r>
            <a:endParaRPr b="1" sz="1000">
              <a:solidFill>
                <a:srgbClr val="E69138"/>
              </a:solidFill>
              <a:latin typeface="Poppins"/>
              <a:ea typeface="Poppins"/>
              <a:cs typeface="Poppins"/>
              <a:sym typeface="Poppins"/>
            </a:endParaRPr>
          </a:p>
        </p:txBody>
      </p:sp>
      <p:sp>
        <p:nvSpPr>
          <p:cNvPr id="99" name="Google Shape;99;p15"/>
          <p:cNvSpPr/>
          <p:nvPr/>
        </p:nvSpPr>
        <p:spPr>
          <a:xfrm>
            <a:off x="882373" y="2729408"/>
            <a:ext cx="2107500" cy="3888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Q2 2020-Q1 2021</a:t>
            </a:r>
            <a:endParaRPr b="1">
              <a:solidFill>
                <a:srgbClr val="E69138"/>
              </a:solidFill>
              <a:latin typeface="Poppins"/>
              <a:ea typeface="Poppins"/>
              <a:cs typeface="Poppins"/>
              <a:sym typeface="Poppins"/>
            </a:endParaRPr>
          </a:p>
        </p:txBody>
      </p:sp>
      <p:sp>
        <p:nvSpPr>
          <p:cNvPr id="100" name="Google Shape;100;p15"/>
          <p:cNvSpPr/>
          <p:nvPr/>
        </p:nvSpPr>
        <p:spPr>
          <a:xfrm>
            <a:off x="882375" y="3170333"/>
            <a:ext cx="2107500" cy="1759800"/>
          </a:xfrm>
          <a:prstGeom prst="rect">
            <a:avLst/>
          </a:prstGeom>
          <a:solidFill>
            <a:schemeClr val="dk1"/>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Pandemi Effect</a:t>
            </a:r>
            <a:endParaRPr b="1">
              <a:solidFill>
                <a:srgbClr val="E69138"/>
              </a:solidFill>
              <a:latin typeface="Poppins"/>
              <a:ea typeface="Poppins"/>
              <a:cs typeface="Poppins"/>
              <a:sym typeface="Poppins"/>
            </a:endParaRPr>
          </a:p>
          <a:p>
            <a:pPr indent="0" lvl="0" marL="0" rtl="0" algn="just">
              <a:spcBef>
                <a:spcPts val="0"/>
              </a:spcBef>
              <a:spcAft>
                <a:spcPts val="0"/>
              </a:spcAft>
              <a:buNone/>
            </a:pPr>
            <a:r>
              <a:rPr lang="en" sz="1000">
                <a:solidFill>
                  <a:srgbClr val="E69138"/>
                </a:solidFill>
                <a:latin typeface="Poppins"/>
                <a:ea typeface="Poppins"/>
                <a:cs typeface="Poppins"/>
                <a:sym typeface="Poppins"/>
              </a:rPr>
              <a:t>Himbauan PSBB/Lockdown memaksa masyarakat untuk tetap dirumah dan berallih ke belanja online (pembelian kebutuhan meningkat). Lonjakan transaksi bukan murni organic growth, melainkan adanya external shock yang menciptakan adaptasi digital.</a:t>
            </a:r>
            <a:endParaRPr sz="1000">
              <a:solidFill>
                <a:srgbClr val="E69138"/>
              </a:solidFill>
              <a:latin typeface="Poppins"/>
              <a:ea typeface="Poppins"/>
              <a:cs typeface="Poppins"/>
              <a:sym typeface="Poppins"/>
            </a:endParaRPr>
          </a:p>
        </p:txBody>
      </p:sp>
      <p:sp>
        <p:nvSpPr>
          <p:cNvPr id="101" name="Google Shape;101;p15"/>
          <p:cNvSpPr/>
          <p:nvPr/>
        </p:nvSpPr>
        <p:spPr>
          <a:xfrm>
            <a:off x="3518248" y="2740307"/>
            <a:ext cx="2107500" cy="3888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Q4 2020 &amp; 2021</a:t>
            </a:r>
            <a:endParaRPr b="1">
              <a:solidFill>
                <a:srgbClr val="E69138"/>
              </a:solidFill>
              <a:latin typeface="Poppins"/>
              <a:ea typeface="Poppins"/>
              <a:cs typeface="Poppins"/>
              <a:sym typeface="Poppins"/>
            </a:endParaRPr>
          </a:p>
        </p:txBody>
      </p:sp>
      <p:sp>
        <p:nvSpPr>
          <p:cNvPr id="102" name="Google Shape;102;p15"/>
          <p:cNvSpPr/>
          <p:nvPr/>
        </p:nvSpPr>
        <p:spPr>
          <a:xfrm>
            <a:off x="3518250" y="3181232"/>
            <a:ext cx="2107500" cy="1759800"/>
          </a:xfrm>
          <a:prstGeom prst="rect">
            <a:avLst/>
          </a:prstGeom>
          <a:solidFill>
            <a:schemeClr val="dk1"/>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Twin Date Campaign</a:t>
            </a:r>
            <a:endParaRPr b="1">
              <a:solidFill>
                <a:srgbClr val="E69138"/>
              </a:solidFill>
              <a:latin typeface="Poppins"/>
              <a:ea typeface="Poppins"/>
              <a:cs typeface="Poppins"/>
              <a:sym typeface="Poppins"/>
            </a:endParaRPr>
          </a:p>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just">
              <a:spcBef>
                <a:spcPts val="0"/>
              </a:spcBef>
              <a:spcAft>
                <a:spcPts val="0"/>
              </a:spcAft>
              <a:buNone/>
            </a:pPr>
            <a:r>
              <a:rPr lang="en" sz="1000">
                <a:solidFill>
                  <a:srgbClr val="E69138"/>
                </a:solidFill>
                <a:latin typeface="Poppins"/>
                <a:ea typeface="Poppins"/>
                <a:cs typeface="Poppins"/>
                <a:sym typeface="Poppins"/>
              </a:rPr>
              <a:t>Puncak promo 10/10, 11/11, dan 12/12. Setiap spike besar di Oktober-Desember hampir pasti dipicu event ini. User cenderung menginginkan voucher diskon/ promo, memicu banyak kunjungan &amp; transaksi.</a:t>
            </a:r>
            <a:endParaRPr sz="1000">
              <a:solidFill>
                <a:srgbClr val="E69138"/>
              </a:solidFill>
              <a:latin typeface="Poppins"/>
              <a:ea typeface="Poppins"/>
              <a:cs typeface="Poppins"/>
              <a:sym typeface="Poppins"/>
            </a:endParaRPr>
          </a:p>
        </p:txBody>
      </p:sp>
      <p:sp>
        <p:nvSpPr>
          <p:cNvPr id="103" name="Google Shape;103;p15"/>
          <p:cNvSpPr/>
          <p:nvPr/>
        </p:nvSpPr>
        <p:spPr>
          <a:xfrm>
            <a:off x="6267498" y="2740307"/>
            <a:ext cx="2107500" cy="3888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Q2 Setiap Tahun</a:t>
            </a:r>
            <a:endParaRPr b="1">
              <a:solidFill>
                <a:srgbClr val="E69138"/>
              </a:solidFill>
              <a:latin typeface="Poppins"/>
              <a:ea typeface="Poppins"/>
              <a:cs typeface="Poppins"/>
              <a:sym typeface="Poppins"/>
            </a:endParaRPr>
          </a:p>
        </p:txBody>
      </p:sp>
      <p:sp>
        <p:nvSpPr>
          <p:cNvPr id="104" name="Google Shape;104;p15"/>
          <p:cNvSpPr/>
          <p:nvPr/>
        </p:nvSpPr>
        <p:spPr>
          <a:xfrm>
            <a:off x="6267500" y="3181232"/>
            <a:ext cx="2107500" cy="1759800"/>
          </a:xfrm>
          <a:prstGeom prst="rect">
            <a:avLst/>
          </a:prstGeom>
          <a:solidFill>
            <a:schemeClr val="dk1"/>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Ramadhan &amp; Idul Fitri</a:t>
            </a:r>
            <a:endParaRPr b="1">
              <a:solidFill>
                <a:srgbClr val="E69138"/>
              </a:solidFill>
              <a:latin typeface="Poppins"/>
              <a:ea typeface="Poppins"/>
              <a:cs typeface="Poppins"/>
              <a:sym typeface="Poppins"/>
            </a:endParaRPr>
          </a:p>
          <a:p>
            <a:pPr indent="0" lvl="0" marL="0" rtl="0" algn="just">
              <a:spcBef>
                <a:spcPts val="0"/>
              </a:spcBef>
              <a:spcAft>
                <a:spcPts val="0"/>
              </a:spcAft>
              <a:buNone/>
            </a:pPr>
            <a:r>
              <a:rPr lang="en" sz="1000">
                <a:solidFill>
                  <a:srgbClr val="E69138"/>
                </a:solidFill>
                <a:latin typeface="Poppins"/>
                <a:ea typeface="Poppins"/>
                <a:cs typeface="Poppins"/>
                <a:sym typeface="Poppins"/>
              </a:rPr>
              <a:t>Periode gifting behavior, orang-orang mengirim hadiah/bingkisan ke keluarga dan teman dekat. Dari grafik kenaikan Q2 tidak selalu konsisten besar -&gt;potensi seasonal demand belum dimaksimalkan. </a:t>
            </a:r>
            <a:endParaRPr sz="1000">
              <a:solidFill>
                <a:srgbClr val="E69138"/>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 name="Shape 108"/>
        <p:cNvGrpSpPr/>
        <p:nvPr/>
      </p:nvGrpSpPr>
      <p:grpSpPr>
        <a:xfrm>
          <a:off x="0" y="0"/>
          <a:ext cx="0" cy="0"/>
          <a:chOff x="0" y="0"/>
          <a:chExt cx="0" cy="0"/>
        </a:xfrm>
      </p:grpSpPr>
      <p:pic>
        <p:nvPicPr>
          <p:cNvPr id="109" name="Google Shape;109;p16"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110" name="Google Shape;110;p16"/>
          <p:cNvSpPr txBox="1"/>
          <p:nvPr/>
        </p:nvSpPr>
        <p:spPr>
          <a:xfrm>
            <a:off x="89839" y="3369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E69138"/>
                </a:solidFill>
                <a:latin typeface="Poppins"/>
                <a:ea typeface="Poppins"/>
                <a:cs typeface="Poppins"/>
                <a:sym typeface="Poppins"/>
              </a:rPr>
              <a:t>Methodology</a:t>
            </a:r>
            <a:endParaRPr>
              <a:solidFill>
                <a:srgbClr val="E69138"/>
              </a:solidFill>
              <a:latin typeface="Poppins"/>
              <a:ea typeface="Poppins"/>
              <a:cs typeface="Poppins"/>
              <a:sym typeface="Poppins"/>
            </a:endParaRPr>
          </a:p>
        </p:txBody>
      </p:sp>
      <p:sp>
        <p:nvSpPr>
          <p:cNvPr id="111" name="Google Shape;111;p16"/>
          <p:cNvSpPr txBox="1"/>
          <p:nvPr/>
        </p:nvSpPr>
        <p:spPr>
          <a:xfrm>
            <a:off x="867979" y="635298"/>
            <a:ext cx="4076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E69138"/>
                </a:solidFill>
                <a:latin typeface="Poppins"/>
                <a:ea typeface="Poppins"/>
                <a:cs typeface="Poppins"/>
                <a:sym typeface="Poppins"/>
              </a:rPr>
              <a:t>6-Step Analytical Framework</a:t>
            </a:r>
            <a:endParaRPr sz="2000"/>
          </a:p>
        </p:txBody>
      </p:sp>
      <p:sp>
        <p:nvSpPr>
          <p:cNvPr id="112" name="Google Shape;112;p16"/>
          <p:cNvSpPr/>
          <p:nvPr/>
        </p:nvSpPr>
        <p:spPr>
          <a:xfrm>
            <a:off x="463675" y="1177073"/>
            <a:ext cx="2636700" cy="595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E69138"/>
                </a:solidFill>
                <a:latin typeface="Poppins"/>
                <a:ea typeface="Poppins"/>
                <a:cs typeface="Poppins"/>
                <a:sym typeface="Poppins"/>
              </a:rPr>
              <a:t>01</a:t>
            </a:r>
            <a:endParaRPr b="1" sz="2400">
              <a:solidFill>
                <a:srgbClr val="E69138"/>
              </a:solidFill>
              <a:latin typeface="Poppins"/>
              <a:ea typeface="Poppins"/>
              <a:cs typeface="Poppins"/>
              <a:sym typeface="Poppins"/>
            </a:endParaRPr>
          </a:p>
        </p:txBody>
      </p:sp>
      <p:sp>
        <p:nvSpPr>
          <p:cNvPr id="113" name="Google Shape;113;p16"/>
          <p:cNvSpPr txBox="1"/>
          <p:nvPr/>
        </p:nvSpPr>
        <p:spPr>
          <a:xfrm>
            <a:off x="867975" y="1170848"/>
            <a:ext cx="2232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Business Problem &amp; Objective</a:t>
            </a:r>
            <a:endParaRPr/>
          </a:p>
        </p:txBody>
      </p:sp>
      <p:sp>
        <p:nvSpPr>
          <p:cNvPr id="114" name="Google Shape;114;p16"/>
          <p:cNvSpPr/>
          <p:nvPr/>
        </p:nvSpPr>
        <p:spPr>
          <a:xfrm>
            <a:off x="3200375" y="1177073"/>
            <a:ext cx="2636700" cy="595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E69138"/>
                </a:solidFill>
                <a:latin typeface="Poppins"/>
                <a:ea typeface="Poppins"/>
                <a:cs typeface="Poppins"/>
                <a:sym typeface="Poppins"/>
              </a:rPr>
              <a:t>02</a:t>
            </a:r>
            <a:endParaRPr b="1" sz="2400">
              <a:solidFill>
                <a:srgbClr val="E69138"/>
              </a:solidFill>
              <a:latin typeface="Poppins"/>
              <a:ea typeface="Poppins"/>
              <a:cs typeface="Poppins"/>
              <a:sym typeface="Poppins"/>
            </a:endParaRPr>
          </a:p>
        </p:txBody>
      </p:sp>
      <p:sp>
        <p:nvSpPr>
          <p:cNvPr id="115" name="Google Shape;115;p16"/>
          <p:cNvSpPr txBox="1"/>
          <p:nvPr/>
        </p:nvSpPr>
        <p:spPr>
          <a:xfrm>
            <a:off x="3604675" y="1269623"/>
            <a:ext cx="223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Data Preparation</a:t>
            </a:r>
            <a:endParaRPr/>
          </a:p>
        </p:txBody>
      </p:sp>
      <p:sp>
        <p:nvSpPr>
          <p:cNvPr id="116" name="Google Shape;116;p16"/>
          <p:cNvSpPr/>
          <p:nvPr/>
        </p:nvSpPr>
        <p:spPr>
          <a:xfrm>
            <a:off x="5937075" y="1173098"/>
            <a:ext cx="2636700" cy="595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E69138"/>
                </a:solidFill>
                <a:latin typeface="Poppins"/>
                <a:ea typeface="Poppins"/>
                <a:cs typeface="Poppins"/>
                <a:sym typeface="Poppins"/>
              </a:rPr>
              <a:t>03</a:t>
            </a:r>
            <a:endParaRPr b="1" sz="2400">
              <a:solidFill>
                <a:srgbClr val="E69138"/>
              </a:solidFill>
              <a:latin typeface="Poppins"/>
              <a:ea typeface="Poppins"/>
              <a:cs typeface="Poppins"/>
              <a:sym typeface="Poppins"/>
            </a:endParaRPr>
          </a:p>
        </p:txBody>
      </p:sp>
      <p:sp>
        <p:nvSpPr>
          <p:cNvPr id="117" name="Google Shape;117;p16"/>
          <p:cNvSpPr txBox="1"/>
          <p:nvPr/>
        </p:nvSpPr>
        <p:spPr>
          <a:xfrm>
            <a:off x="6341375" y="1166873"/>
            <a:ext cx="2232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Exploratory Data Analysis (EDA)</a:t>
            </a:r>
            <a:endParaRPr/>
          </a:p>
        </p:txBody>
      </p:sp>
      <p:sp>
        <p:nvSpPr>
          <p:cNvPr id="118" name="Google Shape;118;p16"/>
          <p:cNvSpPr/>
          <p:nvPr/>
        </p:nvSpPr>
        <p:spPr>
          <a:xfrm>
            <a:off x="463675" y="1811538"/>
            <a:ext cx="2636700" cy="13173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 sz="900">
                <a:solidFill>
                  <a:srgbClr val="E69138"/>
                </a:solidFill>
                <a:latin typeface="Poppins"/>
                <a:ea typeface="Poppins"/>
                <a:cs typeface="Poppins"/>
                <a:sym typeface="Poppins"/>
              </a:rPr>
              <a:t>Target:</a:t>
            </a:r>
            <a:r>
              <a:rPr lang="en" sz="900">
                <a:solidFill>
                  <a:srgbClr val="E69138"/>
                </a:solidFill>
                <a:latin typeface="Poppins"/>
                <a:ea typeface="Poppins"/>
                <a:cs typeface="Poppins"/>
                <a:sym typeface="Poppins"/>
              </a:rPr>
              <a:t> Meningkatkan conversion rate &amp; completion rate serta menurunkan cart abandonment &amp; cancellation.</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Fokus:</a:t>
            </a:r>
            <a:r>
              <a:rPr lang="en" sz="900">
                <a:solidFill>
                  <a:srgbClr val="E69138"/>
                </a:solidFill>
                <a:latin typeface="Poppins"/>
                <a:ea typeface="Poppins"/>
                <a:cs typeface="Poppins"/>
                <a:sym typeface="Poppins"/>
              </a:rPr>
              <a:t> Mengidentifikasi bottleneck dalam customer journey (session → transaction → completed)</a:t>
            </a:r>
            <a:endParaRPr>
              <a:latin typeface="Average"/>
              <a:ea typeface="Average"/>
              <a:cs typeface="Average"/>
              <a:sym typeface="Average"/>
            </a:endParaRPr>
          </a:p>
        </p:txBody>
      </p:sp>
      <p:sp>
        <p:nvSpPr>
          <p:cNvPr id="119" name="Google Shape;119;p16"/>
          <p:cNvSpPr/>
          <p:nvPr/>
        </p:nvSpPr>
        <p:spPr>
          <a:xfrm>
            <a:off x="3200375" y="1811538"/>
            <a:ext cx="2636700" cy="13173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 sz="900">
                <a:solidFill>
                  <a:srgbClr val="E69138"/>
                </a:solidFill>
                <a:latin typeface="Poppins"/>
                <a:ea typeface="Poppins"/>
                <a:cs typeface="Poppins"/>
                <a:sym typeface="Poppins"/>
              </a:rPr>
              <a:t>Data </a:t>
            </a:r>
            <a:r>
              <a:rPr b="1" lang="en" sz="900">
                <a:solidFill>
                  <a:srgbClr val="E69138"/>
                </a:solidFill>
                <a:latin typeface="Poppins"/>
                <a:ea typeface="Poppins"/>
                <a:cs typeface="Poppins"/>
                <a:sym typeface="Poppins"/>
              </a:rPr>
              <a:t>Cleaning &amp; Validation: </a:t>
            </a:r>
            <a:r>
              <a:rPr lang="en" sz="900">
                <a:solidFill>
                  <a:srgbClr val="E69138"/>
                </a:solidFill>
                <a:latin typeface="Poppins"/>
                <a:ea typeface="Poppins"/>
                <a:cs typeface="Poppins"/>
                <a:sym typeface="Poppins"/>
              </a:rPr>
              <a:t>Data sessions, events, dan transactions (missing value &amp; duplikasi).</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Feature Engineering:</a:t>
            </a:r>
            <a:r>
              <a:rPr lang="en" sz="900">
                <a:solidFill>
                  <a:srgbClr val="E69138"/>
                </a:solidFill>
                <a:latin typeface="Poppins"/>
                <a:ea typeface="Poppins"/>
                <a:cs typeface="Poppins"/>
                <a:sym typeface="Poppins"/>
              </a:rPr>
              <a:t> Session duration, Events per session, Funnel stage (event mapping), Conversion, Cancellation, dan Cart Abandonment metrics</a:t>
            </a:r>
            <a:endParaRPr>
              <a:latin typeface="Average"/>
              <a:ea typeface="Average"/>
              <a:cs typeface="Average"/>
              <a:sym typeface="Average"/>
            </a:endParaRPr>
          </a:p>
        </p:txBody>
      </p:sp>
      <p:sp>
        <p:nvSpPr>
          <p:cNvPr id="120" name="Google Shape;120;p16"/>
          <p:cNvSpPr/>
          <p:nvPr/>
        </p:nvSpPr>
        <p:spPr>
          <a:xfrm>
            <a:off x="5937075" y="1811538"/>
            <a:ext cx="2636700" cy="13173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 sz="900">
                <a:solidFill>
                  <a:srgbClr val="E69138"/>
                </a:solidFill>
                <a:latin typeface="Poppins"/>
                <a:ea typeface="Poppins"/>
                <a:cs typeface="Poppins"/>
                <a:sym typeface="Poppins"/>
              </a:rPr>
              <a:t>Traffic &amp; Behavior Analysis:</a:t>
            </a:r>
            <a:r>
              <a:rPr lang="en" sz="900">
                <a:solidFill>
                  <a:srgbClr val="E69138"/>
                </a:solidFill>
                <a:latin typeface="Poppins"/>
                <a:ea typeface="Poppins"/>
                <a:cs typeface="Poppins"/>
                <a:sym typeface="Poppins"/>
              </a:rPr>
              <a:t> Distribusi sessions, events, dan traffic source.</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KPI Scorecard:</a:t>
            </a:r>
            <a:r>
              <a:rPr lang="en" sz="900">
                <a:solidFill>
                  <a:srgbClr val="E69138"/>
                </a:solidFill>
                <a:latin typeface="Poppins"/>
                <a:ea typeface="Poppins"/>
                <a:cs typeface="Poppins"/>
                <a:sym typeface="Poppins"/>
              </a:rPr>
              <a:t> Conversion rate, completion rate, cart abandonment</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lang="en" sz="900">
                <a:solidFill>
                  <a:srgbClr val="E69138"/>
                </a:solidFill>
                <a:latin typeface="Poppins"/>
                <a:ea typeface="Poppins"/>
                <a:cs typeface="Poppins"/>
                <a:sym typeface="Poppins"/>
              </a:rPr>
              <a:t>Session Quality: Analisis durasi dan interaksi per session</a:t>
            </a:r>
            <a:endParaRPr sz="900">
              <a:solidFill>
                <a:srgbClr val="E69138"/>
              </a:solidFill>
              <a:latin typeface="Poppins"/>
              <a:ea typeface="Poppins"/>
              <a:cs typeface="Poppins"/>
              <a:sym typeface="Poppins"/>
            </a:endParaRPr>
          </a:p>
          <a:p>
            <a:pPr indent="0" lvl="0" marL="0" rtl="0" algn="ctr">
              <a:spcBef>
                <a:spcPts val="0"/>
              </a:spcBef>
              <a:spcAft>
                <a:spcPts val="0"/>
              </a:spcAft>
              <a:buNone/>
            </a:pPr>
            <a:r>
              <a:t/>
            </a:r>
            <a:endParaRPr>
              <a:latin typeface="Average"/>
              <a:ea typeface="Average"/>
              <a:cs typeface="Average"/>
              <a:sym typeface="Average"/>
            </a:endParaRPr>
          </a:p>
        </p:txBody>
      </p:sp>
      <p:sp>
        <p:nvSpPr>
          <p:cNvPr id="121" name="Google Shape;121;p16"/>
          <p:cNvSpPr/>
          <p:nvPr/>
        </p:nvSpPr>
        <p:spPr>
          <a:xfrm>
            <a:off x="463675" y="3191723"/>
            <a:ext cx="2636700" cy="595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E69138"/>
                </a:solidFill>
                <a:latin typeface="Poppins"/>
                <a:ea typeface="Poppins"/>
                <a:cs typeface="Poppins"/>
                <a:sym typeface="Poppins"/>
              </a:rPr>
              <a:t>04</a:t>
            </a:r>
            <a:endParaRPr b="1" sz="2400">
              <a:solidFill>
                <a:srgbClr val="E69138"/>
              </a:solidFill>
              <a:latin typeface="Poppins"/>
              <a:ea typeface="Poppins"/>
              <a:cs typeface="Poppins"/>
              <a:sym typeface="Poppins"/>
            </a:endParaRPr>
          </a:p>
        </p:txBody>
      </p:sp>
      <p:sp>
        <p:nvSpPr>
          <p:cNvPr id="122" name="Google Shape;122;p16"/>
          <p:cNvSpPr txBox="1"/>
          <p:nvPr/>
        </p:nvSpPr>
        <p:spPr>
          <a:xfrm>
            <a:off x="868075" y="3277423"/>
            <a:ext cx="223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Deep-Dive Analysis</a:t>
            </a:r>
            <a:endParaRPr/>
          </a:p>
        </p:txBody>
      </p:sp>
      <p:sp>
        <p:nvSpPr>
          <p:cNvPr id="123" name="Google Shape;123;p16"/>
          <p:cNvSpPr/>
          <p:nvPr/>
        </p:nvSpPr>
        <p:spPr>
          <a:xfrm>
            <a:off x="3200375" y="3191723"/>
            <a:ext cx="2636700" cy="595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E69138"/>
                </a:solidFill>
                <a:latin typeface="Poppins"/>
                <a:ea typeface="Poppins"/>
                <a:cs typeface="Poppins"/>
                <a:sym typeface="Poppins"/>
              </a:rPr>
              <a:t>05</a:t>
            </a:r>
            <a:endParaRPr b="1" sz="2400">
              <a:solidFill>
                <a:srgbClr val="E69138"/>
              </a:solidFill>
              <a:latin typeface="Poppins"/>
              <a:ea typeface="Poppins"/>
              <a:cs typeface="Poppins"/>
              <a:sym typeface="Poppins"/>
            </a:endParaRPr>
          </a:p>
        </p:txBody>
      </p:sp>
      <p:sp>
        <p:nvSpPr>
          <p:cNvPr id="124" name="Google Shape;124;p16"/>
          <p:cNvSpPr txBox="1"/>
          <p:nvPr/>
        </p:nvSpPr>
        <p:spPr>
          <a:xfrm>
            <a:off x="3604725" y="3277423"/>
            <a:ext cx="223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Strategy</a:t>
            </a:r>
            <a:r>
              <a:rPr b="1" lang="en">
                <a:solidFill>
                  <a:srgbClr val="E69138"/>
                </a:solidFill>
                <a:latin typeface="Poppins"/>
                <a:ea typeface="Poppins"/>
                <a:cs typeface="Poppins"/>
                <a:sym typeface="Poppins"/>
              </a:rPr>
              <a:t> Formulation</a:t>
            </a:r>
            <a:endParaRPr/>
          </a:p>
        </p:txBody>
      </p:sp>
      <p:sp>
        <p:nvSpPr>
          <p:cNvPr id="125" name="Google Shape;125;p16"/>
          <p:cNvSpPr/>
          <p:nvPr/>
        </p:nvSpPr>
        <p:spPr>
          <a:xfrm>
            <a:off x="5937075" y="3187748"/>
            <a:ext cx="2636700" cy="595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E69138"/>
                </a:solidFill>
                <a:latin typeface="Poppins"/>
                <a:ea typeface="Poppins"/>
                <a:cs typeface="Poppins"/>
                <a:sym typeface="Poppins"/>
              </a:rPr>
              <a:t>06</a:t>
            </a:r>
            <a:endParaRPr b="1" sz="2400">
              <a:solidFill>
                <a:srgbClr val="E69138"/>
              </a:solidFill>
              <a:latin typeface="Poppins"/>
              <a:ea typeface="Poppins"/>
              <a:cs typeface="Poppins"/>
              <a:sym typeface="Poppins"/>
            </a:endParaRPr>
          </a:p>
        </p:txBody>
      </p:sp>
      <p:sp>
        <p:nvSpPr>
          <p:cNvPr id="126" name="Google Shape;126;p16"/>
          <p:cNvSpPr txBox="1"/>
          <p:nvPr/>
        </p:nvSpPr>
        <p:spPr>
          <a:xfrm>
            <a:off x="6266100" y="3277423"/>
            <a:ext cx="223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Action Plan</a:t>
            </a:r>
            <a:endParaRPr/>
          </a:p>
        </p:txBody>
      </p:sp>
      <p:sp>
        <p:nvSpPr>
          <p:cNvPr id="127" name="Google Shape;127;p16"/>
          <p:cNvSpPr/>
          <p:nvPr/>
        </p:nvSpPr>
        <p:spPr>
          <a:xfrm>
            <a:off x="463675" y="3826188"/>
            <a:ext cx="2636700" cy="13173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 sz="900">
                <a:solidFill>
                  <a:srgbClr val="E69138"/>
                </a:solidFill>
                <a:latin typeface="Poppins"/>
                <a:ea typeface="Poppins"/>
                <a:cs typeface="Poppins"/>
                <a:sym typeface="Poppins"/>
              </a:rPr>
              <a:t>Funnel Analysis:</a:t>
            </a:r>
            <a:r>
              <a:rPr lang="en" sz="900">
                <a:solidFill>
                  <a:srgbClr val="E69138"/>
                </a:solidFill>
                <a:latin typeface="Poppins"/>
                <a:ea typeface="Poppins"/>
                <a:cs typeface="Poppins"/>
                <a:sym typeface="Poppins"/>
              </a:rPr>
              <a:t> Identifikasi drop-off di setiap tahap funnel</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Cart Behavior:</a:t>
            </a:r>
            <a:r>
              <a:rPr lang="en" sz="900">
                <a:solidFill>
                  <a:srgbClr val="E69138"/>
                </a:solidFill>
                <a:latin typeface="Poppins"/>
                <a:ea typeface="Poppins"/>
                <a:cs typeface="Poppins"/>
                <a:sym typeface="Poppins"/>
              </a:rPr>
              <a:t> Analisis abandonment (add-to-cart tanpa transaksi)</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Payment Analysis</a:t>
            </a:r>
            <a:r>
              <a:rPr lang="en" sz="900">
                <a:solidFill>
                  <a:srgbClr val="E69138"/>
                </a:solidFill>
                <a:latin typeface="Poppins"/>
                <a:ea typeface="Poppins"/>
                <a:cs typeface="Poppins"/>
                <a:sym typeface="Poppins"/>
              </a:rPr>
              <a:t>: Perbandingan conversion &amp; cancellation per payment method</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Segmentation</a:t>
            </a:r>
            <a:r>
              <a:rPr lang="en" sz="900">
                <a:solidFill>
                  <a:srgbClr val="E69138"/>
                </a:solidFill>
                <a:latin typeface="Poppins"/>
                <a:ea typeface="Poppins"/>
                <a:cs typeface="Poppins"/>
                <a:sym typeface="Poppins"/>
              </a:rPr>
              <a:t>: Analisis conversion berdasarkan traffic, age, gender, dan location</a:t>
            </a:r>
            <a:endParaRPr sz="900">
              <a:solidFill>
                <a:srgbClr val="E69138"/>
              </a:solidFill>
              <a:latin typeface="Poppins"/>
              <a:ea typeface="Poppins"/>
              <a:cs typeface="Poppins"/>
              <a:sym typeface="Poppins"/>
            </a:endParaRPr>
          </a:p>
        </p:txBody>
      </p:sp>
      <p:sp>
        <p:nvSpPr>
          <p:cNvPr id="128" name="Google Shape;128;p16"/>
          <p:cNvSpPr/>
          <p:nvPr/>
        </p:nvSpPr>
        <p:spPr>
          <a:xfrm>
            <a:off x="3200375" y="3838734"/>
            <a:ext cx="2636700" cy="13173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t/>
            </a:r>
            <a:endParaRPr b="1" sz="800">
              <a:solidFill>
                <a:srgbClr val="E69138"/>
              </a:solidFill>
              <a:latin typeface="Poppins"/>
              <a:ea typeface="Poppins"/>
              <a:cs typeface="Poppins"/>
              <a:sym typeface="Poppins"/>
            </a:endParaRPr>
          </a:p>
          <a:p>
            <a:pPr indent="0" lvl="0" marL="0" rtl="0" algn="just">
              <a:spcBef>
                <a:spcPts val="0"/>
              </a:spcBef>
              <a:spcAft>
                <a:spcPts val="0"/>
              </a:spcAft>
              <a:buNone/>
            </a:pPr>
            <a:r>
              <a:rPr b="1" lang="en" sz="800">
                <a:solidFill>
                  <a:srgbClr val="E69138"/>
                </a:solidFill>
                <a:latin typeface="Poppins"/>
                <a:ea typeface="Poppins"/>
                <a:cs typeface="Poppins"/>
                <a:sym typeface="Poppins"/>
              </a:rPr>
              <a:t>Funnel Optimization:</a:t>
            </a:r>
            <a:r>
              <a:rPr lang="en" sz="800">
                <a:solidFill>
                  <a:srgbClr val="E69138"/>
                </a:solidFill>
                <a:latin typeface="Poppins"/>
                <a:ea typeface="Poppins"/>
                <a:cs typeface="Poppins"/>
                <a:sym typeface="Poppins"/>
              </a:rPr>
              <a:t> Simplifikasi checkout flow &amp; pengurangan friction</a:t>
            </a:r>
            <a:endParaRPr sz="800">
              <a:solidFill>
                <a:srgbClr val="E69138"/>
              </a:solidFill>
              <a:latin typeface="Poppins"/>
              <a:ea typeface="Poppins"/>
              <a:cs typeface="Poppins"/>
              <a:sym typeface="Poppins"/>
            </a:endParaRPr>
          </a:p>
          <a:p>
            <a:pPr indent="0" lvl="0" marL="0" rtl="0" algn="just">
              <a:spcBef>
                <a:spcPts val="0"/>
              </a:spcBef>
              <a:spcAft>
                <a:spcPts val="0"/>
              </a:spcAft>
              <a:buNone/>
            </a:pPr>
            <a:r>
              <a:rPr b="1" lang="en" sz="800">
                <a:solidFill>
                  <a:srgbClr val="E69138"/>
                </a:solidFill>
                <a:latin typeface="Poppins"/>
                <a:ea typeface="Poppins"/>
                <a:cs typeface="Poppins"/>
                <a:sym typeface="Poppins"/>
              </a:rPr>
              <a:t>Payment Improvement:</a:t>
            </a:r>
            <a:r>
              <a:rPr lang="en" sz="800">
                <a:solidFill>
                  <a:srgbClr val="E69138"/>
                </a:solidFill>
                <a:latin typeface="Poppins"/>
                <a:ea typeface="Poppins"/>
                <a:cs typeface="Poppins"/>
                <a:sym typeface="Poppins"/>
              </a:rPr>
              <a:t> Optimasi metode pembayaran untuk meningkatkan completion rate</a:t>
            </a:r>
            <a:endParaRPr sz="800">
              <a:solidFill>
                <a:srgbClr val="E69138"/>
              </a:solidFill>
              <a:latin typeface="Poppins"/>
              <a:ea typeface="Poppins"/>
              <a:cs typeface="Poppins"/>
              <a:sym typeface="Poppins"/>
            </a:endParaRPr>
          </a:p>
          <a:p>
            <a:pPr indent="0" lvl="0" marL="0" rtl="0" algn="just">
              <a:spcBef>
                <a:spcPts val="0"/>
              </a:spcBef>
              <a:spcAft>
                <a:spcPts val="0"/>
              </a:spcAft>
              <a:buNone/>
            </a:pPr>
            <a:r>
              <a:rPr b="1" lang="en" sz="800">
                <a:solidFill>
                  <a:srgbClr val="E69138"/>
                </a:solidFill>
                <a:latin typeface="Poppins"/>
                <a:ea typeface="Poppins"/>
                <a:cs typeface="Poppins"/>
                <a:sym typeface="Poppins"/>
              </a:rPr>
              <a:t>Customer Targeting:</a:t>
            </a:r>
            <a:r>
              <a:rPr lang="en" sz="800">
                <a:solidFill>
                  <a:srgbClr val="E69138"/>
                </a:solidFill>
                <a:latin typeface="Poppins"/>
                <a:ea typeface="Poppins"/>
                <a:cs typeface="Poppins"/>
                <a:sym typeface="Poppins"/>
              </a:rPr>
              <a:t> Segmentasi user berdasarkan behavior &amp; conversion likelihood</a:t>
            </a:r>
            <a:endParaRPr sz="800">
              <a:solidFill>
                <a:srgbClr val="E69138"/>
              </a:solidFill>
              <a:latin typeface="Poppins"/>
              <a:ea typeface="Poppins"/>
              <a:cs typeface="Poppins"/>
              <a:sym typeface="Poppins"/>
            </a:endParaRPr>
          </a:p>
          <a:p>
            <a:pPr indent="0" lvl="0" marL="0" rtl="0" algn="just">
              <a:spcBef>
                <a:spcPts val="0"/>
              </a:spcBef>
              <a:spcAft>
                <a:spcPts val="0"/>
              </a:spcAft>
              <a:buNone/>
            </a:pPr>
            <a:r>
              <a:rPr b="1" lang="en" sz="800">
                <a:solidFill>
                  <a:srgbClr val="E69138"/>
                </a:solidFill>
                <a:latin typeface="Poppins"/>
                <a:ea typeface="Poppins"/>
                <a:cs typeface="Poppins"/>
                <a:sym typeface="Poppins"/>
              </a:rPr>
              <a:t>Cart Recovery:</a:t>
            </a:r>
            <a:r>
              <a:rPr lang="en" sz="800">
                <a:solidFill>
                  <a:srgbClr val="E69138"/>
                </a:solidFill>
                <a:latin typeface="Poppins"/>
                <a:ea typeface="Poppins"/>
                <a:cs typeface="Poppins"/>
                <a:sym typeface="Poppins"/>
              </a:rPr>
              <a:t> Strategi remarketing dan insentif untuk mengurangi abandonment</a:t>
            </a:r>
            <a:endParaRPr sz="800">
              <a:solidFill>
                <a:srgbClr val="E69138"/>
              </a:solidFill>
              <a:latin typeface="Poppins"/>
              <a:ea typeface="Poppins"/>
              <a:cs typeface="Poppins"/>
              <a:sym typeface="Poppins"/>
            </a:endParaRPr>
          </a:p>
          <a:p>
            <a:pPr indent="0" lvl="0" marL="0" rtl="0" algn="ctr">
              <a:spcBef>
                <a:spcPts val="0"/>
              </a:spcBef>
              <a:spcAft>
                <a:spcPts val="0"/>
              </a:spcAft>
              <a:buNone/>
            </a:pPr>
            <a:r>
              <a:t/>
            </a:r>
            <a:endParaRPr>
              <a:latin typeface="Average"/>
              <a:ea typeface="Average"/>
              <a:cs typeface="Average"/>
              <a:sym typeface="Average"/>
            </a:endParaRPr>
          </a:p>
        </p:txBody>
      </p:sp>
      <p:sp>
        <p:nvSpPr>
          <p:cNvPr id="129" name="Google Shape;129;p16"/>
          <p:cNvSpPr/>
          <p:nvPr/>
        </p:nvSpPr>
        <p:spPr>
          <a:xfrm>
            <a:off x="5937075" y="3826188"/>
            <a:ext cx="2636700" cy="13173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 sz="900">
                <a:solidFill>
                  <a:srgbClr val="E69138"/>
                </a:solidFill>
                <a:latin typeface="Poppins"/>
                <a:ea typeface="Poppins"/>
                <a:cs typeface="Poppins"/>
                <a:sym typeface="Poppins"/>
              </a:rPr>
              <a:t>RCA (Root Cause Analysis): </a:t>
            </a:r>
            <a:r>
              <a:rPr lang="en" sz="900">
                <a:solidFill>
                  <a:srgbClr val="E69138"/>
                </a:solidFill>
                <a:latin typeface="Poppins"/>
                <a:ea typeface="Poppins"/>
                <a:cs typeface="Poppins"/>
                <a:sym typeface="Poppins"/>
              </a:rPr>
              <a:t>Identifikasi penyebab utama bottleneck di funnel</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Implementation Plan:</a:t>
            </a:r>
            <a:r>
              <a:rPr lang="en" sz="900">
                <a:solidFill>
                  <a:srgbClr val="E69138"/>
                </a:solidFill>
                <a:latin typeface="Poppins"/>
                <a:ea typeface="Poppins"/>
                <a:cs typeface="Poppins"/>
                <a:sym typeface="Poppins"/>
              </a:rPr>
              <a:t> Prioritas perbaikan pada checkout &amp; payment flow</a:t>
            </a:r>
            <a:endParaRPr sz="900">
              <a:solidFill>
                <a:srgbClr val="E69138"/>
              </a:solidFill>
              <a:latin typeface="Poppins"/>
              <a:ea typeface="Poppins"/>
              <a:cs typeface="Poppins"/>
              <a:sym typeface="Poppins"/>
            </a:endParaRPr>
          </a:p>
          <a:p>
            <a:pPr indent="0" lvl="0" marL="0" rtl="0" algn="just">
              <a:spcBef>
                <a:spcPts val="0"/>
              </a:spcBef>
              <a:spcAft>
                <a:spcPts val="0"/>
              </a:spcAft>
              <a:buNone/>
            </a:pPr>
            <a:r>
              <a:rPr b="1" lang="en" sz="900">
                <a:solidFill>
                  <a:srgbClr val="E69138"/>
                </a:solidFill>
                <a:latin typeface="Poppins"/>
                <a:ea typeface="Poppins"/>
                <a:cs typeface="Poppins"/>
                <a:sym typeface="Poppins"/>
              </a:rPr>
              <a:t>Expected Impact:</a:t>
            </a:r>
            <a:r>
              <a:rPr lang="en" sz="900">
                <a:solidFill>
                  <a:srgbClr val="E69138"/>
                </a:solidFill>
                <a:latin typeface="Poppins"/>
                <a:ea typeface="Poppins"/>
                <a:cs typeface="Poppins"/>
                <a:sym typeface="Poppins"/>
              </a:rPr>
              <a:t> Peningkatan conversion rate &amp; revenue melalui optimasi funnel</a:t>
            </a:r>
            <a:endParaRPr>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3" name="Shape 133"/>
        <p:cNvGrpSpPr/>
        <p:nvPr/>
      </p:nvGrpSpPr>
      <p:grpSpPr>
        <a:xfrm>
          <a:off x="0" y="0"/>
          <a:ext cx="0" cy="0"/>
          <a:chOff x="0" y="0"/>
          <a:chExt cx="0" cy="0"/>
        </a:xfrm>
      </p:grpSpPr>
      <p:sp>
        <p:nvSpPr>
          <p:cNvPr id="134" name="Google Shape;134;p17"/>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200">
                <a:solidFill>
                  <a:srgbClr val="E69138"/>
                </a:solidFill>
                <a:latin typeface="Poppins"/>
                <a:ea typeface="Poppins"/>
                <a:cs typeface="Poppins"/>
                <a:sym typeface="Poppins"/>
              </a:rPr>
              <a:t>UNDERSTANDING BUSINESS PROBLEM</a:t>
            </a:r>
            <a:endParaRPr b="1" sz="4200">
              <a:solidFill>
                <a:srgbClr val="E69138"/>
              </a:solidFill>
              <a:latin typeface="Poppins"/>
              <a:ea typeface="Poppins"/>
              <a:cs typeface="Poppins"/>
              <a:sym typeface="Poppins"/>
            </a:endParaRPr>
          </a:p>
          <a:p>
            <a:pPr indent="0" lvl="0" marL="0" rtl="0" algn="ctr">
              <a:spcBef>
                <a:spcPts val="0"/>
              </a:spcBef>
              <a:spcAft>
                <a:spcPts val="0"/>
              </a:spcAft>
              <a:buNone/>
            </a:pPr>
            <a:r>
              <a:rPr b="1" lang="en">
                <a:solidFill>
                  <a:srgbClr val="E69138"/>
                </a:solidFill>
                <a:latin typeface="Poppins"/>
                <a:ea typeface="Poppins"/>
                <a:cs typeface="Poppins"/>
                <a:sym typeface="Poppins"/>
              </a:rPr>
              <a:t>E-CommerceU</a:t>
            </a:r>
            <a:endParaRPr b="1">
              <a:solidFill>
                <a:srgbClr val="E69138"/>
              </a:solidFill>
              <a:latin typeface="Poppins"/>
              <a:ea typeface="Poppins"/>
              <a:cs typeface="Poppins"/>
              <a:sym typeface="Poppins"/>
            </a:endParaRPr>
          </a:p>
        </p:txBody>
      </p:sp>
      <p:pic>
        <p:nvPicPr>
          <p:cNvPr id="135" name="Google Shape;135;p17"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136" name="Google Shape;136;p17"/>
          <p:cNvSpPr/>
          <p:nvPr/>
        </p:nvSpPr>
        <p:spPr>
          <a:xfrm>
            <a:off x="6075700" y="71550"/>
            <a:ext cx="2376000" cy="1671000"/>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Average"/>
              <a:ea typeface="Average"/>
              <a:cs typeface="Average"/>
              <a:sym typeface="Average"/>
            </a:endParaRPr>
          </a:p>
        </p:txBody>
      </p:sp>
      <p:sp>
        <p:nvSpPr>
          <p:cNvPr id="137" name="Google Shape;137;p17"/>
          <p:cNvSpPr/>
          <p:nvPr/>
        </p:nvSpPr>
        <p:spPr>
          <a:xfrm>
            <a:off x="6228100" y="223950"/>
            <a:ext cx="2376000" cy="1671000"/>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Average"/>
              <a:ea typeface="Average"/>
              <a:cs typeface="Average"/>
              <a:sym typeface="Average"/>
            </a:endParaRPr>
          </a:p>
        </p:txBody>
      </p:sp>
      <p:sp>
        <p:nvSpPr>
          <p:cNvPr id="138" name="Google Shape;138;p17"/>
          <p:cNvSpPr/>
          <p:nvPr/>
        </p:nvSpPr>
        <p:spPr>
          <a:xfrm>
            <a:off x="6432700" y="628750"/>
            <a:ext cx="2376000" cy="1671000"/>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9" name="Google Shape;139;p17"/>
          <p:cNvSpPr/>
          <p:nvPr/>
        </p:nvSpPr>
        <p:spPr>
          <a:xfrm rot="-10070070">
            <a:off x="639002" y="3154998"/>
            <a:ext cx="2375957" cy="1671038"/>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Average"/>
              <a:ea typeface="Average"/>
              <a:cs typeface="Average"/>
              <a:sym typeface="Average"/>
            </a:endParaRPr>
          </a:p>
        </p:txBody>
      </p:sp>
      <p:sp>
        <p:nvSpPr>
          <p:cNvPr id="140" name="Google Shape;140;p17"/>
          <p:cNvSpPr/>
          <p:nvPr/>
        </p:nvSpPr>
        <p:spPr>
          <a:xfrm rot="-10070070">
            <a:off x="362783" y="3233834"/>
            <a:ext cx="2375957" cy="1671038"/>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41" name="Google Shape;141;p17"/>
          <p:cNvSpPr/>
          <p:nvPr/>
        </p:nvSpPr>
        <p:spPr>
          <a:xfrm rot="10681040">
            <a:off x="580366" y="2559479"/>
            <a:ext cx="2375922" cy="1671093"/>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5" name="Shape 145"/>
        <p:cNvGrpSpPr/>
        <p:nvPr/>
      </p:nvGrpSpPr>
      <p:grpSpPr>
        <a:xfrm>
          <a:off x="0" y="0"/>
          <a:ext cx="0" cy="0"/>
          <a:chOff x="0" y="0"/>
          <a:chExt cx="0" cy="0"/>
        </a:xfrm>
      </p:grpSpPr>
      <p:pic>
        <p:nvPicPr>
          <p:cNvPr id="146" name="Google Shape;146;p18"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pic>
        <p:nvPicPr>
          <p:cNvPr id="147" name="Google Shape;147;p18"/>
          <p:cNvPicPr preferRelativeResize="0"/>
          <p:nvPr/>
        </p:nvPicPr>
        <p:blipFill>
          <a:blip r:embed="rId4">
            <a:alphaModFix/>
          </a:blip>
          <a:stretch>
            <a:fillRect/>
          </a:stretch>
        </p:blipFill>
        <p:spPr>
          <a:xfrm>
            <a:off x="711575" y="201875"/>
            <a:ext cx="7720847" cy="4739726"/>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1" name="Shape 151"/>
        <p:cNvGrpSpPr/>
        <p:nvPr/>
      </p:nvGrpSpPr>
      <p:grpSpPr>
        <a:xfrm>
          <a:off x="0" y="0"/>
          <a:ext cx="0" cy="0"/>
          <a:chOff x="0" y="0"/>
          <a:chExt cx="0" cy="0"/>
        </a:xfrm>
      </p:grpSpPr>
      <p:sp>
        <p:nvSpPr>
          <p:cNvPr id="152" name="Google Shape;152;p19"/>
          <p:cNvSpPr txBox="1"/>
          <p:nvPr/>
        </p:nvSpPr>
        <p:spPr>
          <a:xfrm>
            <a:off x="868075" y="194250"/>
            <a:ext cx="7791600" cy="5172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2700">
                <a:solidFill>
                  <a:srgbClr val="E69138"/>
                </a:solidFill>
                <a:latin typeface="Poppins"/>
                <a:ea typeface="Poppins"/>
                <a:cs typeface="Poppins"/>
                <a:sym typeface="Poppins"/>
              </a:rPr>
              <a:t>Root Cause Analysis (RCA) - Issue Tree</a:t>
            </a:r>
            <a:endParaRPr b="1" sz="2700">
              <a:solidFill>
                <a:srgbClr val="E69138"/>
              </a:solidFill>
              <a:latin typeface="Poppins"/>
              <a:ea typeface="Poppins"/>
              <a:cs typeface="Poppins"/>
              <a:sym typeface="Poppins"/>
            </a:endParaRPr>
          </a:p>
        </p:txBody>
      </p:sp>
      <p:sp>
        <p:nvSpPr>
          <p:cNvPr id="153" name="Google Shape;153;p19"/>
          <p:cNvSpPr txBox="1"/>
          <p:nvPr/>
        </p:nvSpPr>
        <p:spPr>
          <a:xfrm>
            <a:off x="1359685" y="2400627"/>
            <a:ext cx="1132200" cy="8313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Target:</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Increase Conversion Rate &amp; Revenue</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Reduce Cart Abandonment &amp; Cancellation</a:t>
            </a:r>
            <a:endParaRPr b="1" sz="700">
              <a:solidFill>
                <a:srgbClr val="E69138"/>
              </a:solidFill>
              <a:latin typeface="Poppins"/>
              <a:ea typeface="Poppins"/>
              <a:cs typeface="Poppins"/>
              <a:sym typeface="Poppins"/>
            </a:endParaRPr>
          </a:p>
        </p:txBody>
      </p:sp>
      <p:pic>
        <p:nvPicPr>
          <p:cNvPr id="154" name="Google Shape;154;p19"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155" name="Google Shape;155;p19"/>
          <p:cNvSpPr txBox="1"/>
          <p:nvPr/>
        </p:nvSpPr>
        <p:spPr>
          <a:xfrm>
            <a:off x="3034310" y="1788577"/>
            <a:ext cx="1372800" cy="6156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Funnel Inefficiency</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(Optimasi "Bagaimana" user convert)</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t/>
            </a:r>
            <a:endParaRPr b="1" sz="700">
              <a:solidFill>
                <a:srgbClr val="E69138"/>
              </a:solidFill>
              <a:latin typeface="Poppins"/>
              <a:ea typeface="Poppins"/>
              <a:cs typeface="Poppins"/>
              <a:sym typeface="Poppins"/>
            </a:endParaRPr>
          </a:p>
        </p:txBody>
      </p:sp>
      <p:sp>
        <p:nvSpPr>
          <p:cNvPr id="156" name="Google Shape;156;p19"/>
          <p:cNvSpPr txBox="1"/>
          <p:nvPr/>
        </p:nvSpPr>
        <p:spPr>
          <a:xfrm>
            <a:off x="3115485" y="3231927"/>
            <a:ext cx="1372800" cy="6156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Traffic Quality Issue</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(Optimasi "Siapa" user datang)</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t/>
            </a:r>
            <a:endParaRPr b="1" sz="700">
              <a:solidFill>
                <a:srgbClr val="E69138"/>
              </a:solidFill>
              <a:latin typeface="Poppins"/>
              <a:ea typeface="Poppins"/>
              <a:cs typeface="Poppins"/>
              <a:sym typeface="Poppins"/>
            </a:endParaRPr>
          </a:p>
        </p:txBody>
      </p:sp>
      <p:sp>
        <p:nvSpPr>
          <p:cNvPr id="157" name="Google Shape;157;p19"/>
          <p:cNvSpPr txBox="1"/>
          <p:nvPr/>
        </p:nvSpPr>
        <p:spPr>
          <a:xfrm>
            <a:off x="4708935" y="1181290"/>
            <a:ext cx="1372800" cy="2925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High Cart Abandonment</a:t>
            </a:r>
            <a:endParaRPr b="1" sz="700">
              <a:solidFill>
                <a:srgbClr val="E69138"/>
              </a:solidFill>
              <a:latin typeface="Poppins"/>
              <a:ea typeface="Poppins"/>
              <a:cs typeface="Poppins"/>
              <a:sym typeface="Poppins"/>
            </a:endParaRPr>
          </a:p>
        </p:txBody>
      </p:sp>
      <p:sp>
        <p:nvSpPr>
          <p:cNvPr id="158" name="Google Shape;158;p19"/>
          <p:cNvSpPr txBox="1"/>
          <p:nvPr/>
        </p:nvSpPr>
        <p:spPr>
          <a:xfrm>
            <a:off x="4713872" y="1675152"/>
            <a:ext cx="1372800" cy="2925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High Cancellation Rate</a:t>
            </a:r>
            <a:endParaRPr b="1" sz="700">
              <a:solidFill>
                <a:srgbClr val="E69138"/>
              </a:solidFill>
              <a:latin typeface="Poppins"/>
              <a:ea typeface="Poppins"/>
              <a:cs typeface="Poppins"/>
              <a:sym typeface="Poppins"/>
            </a:endParaRPr>
          </a:p>
        </p:txBody>
      </p:sp>
      <p:sp>
        <p:nvSpPr>
          <p:cNvPr id="159" name="Google Shape;159;p19"/>
          <p:cNvSpPr txBox="1"/>
          <p:nvPr/>
        </p:nvSpPr>
        <p:spPr>
          <a:xfrm>
            <a:off x="4708935" y="2301577"/>
            <a:ext cx="1372800" cy="2925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Checkout Drop-off</a:t>
            </a:r>
            <a:endParaRPr b="1" sz="700">
              <a:solidFill>
                <a:srgbClr val="E69138"/>
              </a:solidFill>
              <a:latin typeface="Poppins"/>
              <a:ea typeface="Poppins"/>
              <a:cs typeface="Poppins"/>
              <a:sym typeface="Poppins"/>
            </a:endParaRPr>
          </a:p>
        </p:txBody>
      </p:sp>
      <p:sp>
        <p:nvSpPr>
          <p:cNvPr id="160" name="Google Shape;160;p19"/>
          <p:cNvSpPr txBox="1"/>
          <p:nvPr/>
        </p:nvSpPr>
        <p:spPr>
          <a:xfrm>
            <a:off x="4980285" y="3057440"/>
            <a:ext cx="1372800" cy="5079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Low Engagement</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(Session pendek &amp; sedikit event)</a:t>
            </a:r>
            <a:endParaRPr b="1" sz="700">
              <a:solidFill>
                <a:srgbClr val="E69138"/>
              </a:solidFill>
              <a:latin typeface="Poppins"/>
              <a:ea typeface="Poppins"/>
              <a:cs typeface="Poppins"/>
              <a:sym typeface="Poppins"/>
            </a:endParaRPr>
          </a:p>
        </p:txBody>
      </p:sp>
      <p:sp>
        <p:nvSpPr>
          <p:cNvPr id="161" name="Google Shape;161;p19"/>
          <p:cNvSpPr txBox="1"/>
          <p:nvPr/>
        </p:nvSpPr>
        <p:spPr>
          <a:xfrm>
            <a:off x="5038430" y="3988227"/>
            <a:ext cx="1372800" cy="2925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Low Conversion Traffic</a:t>
            </a:r>
            <a:endParaRPr b="1" sz="700">
              <a:solidFill>
                <a:srgbClr val="E69138"/>
              </a:solidFill>
              <a:latin typeface="Poppins"/>
              <a:ea typeface="Poppins"/>
              <a:cs typeface="Poppins"/>
              <a:sym typeface="Poppins"/>
            </a:endParaRPr>
          </a:p>
        </p:txBody>
      </p:sp>
      <p:sp>
        <p:nvSpPr>
          <p:cNvPr id="162" name="Google Shape;162;p19"/>
          <p:cNvSpPr txBox="1"/>
          <p:nvPr/>
        </p:nvSpPr>
        <p:spPr>
          <a:xfrm>
            <a:off x="6721835" y="2193877"/>
            <a:ext cx="1372800" cy="5079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Complex Checkout Flow</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Hidden Cost (ongkir muncul di akhir)</a:t>
            </a:r>
            <a:endParaRPr b="1" sz="700">
              <a:solidFill>
                <a:srgbClr val="E69138"/>
              </a:solidFill>
              <a:latin typeface="Poppins"/>
              <a:ea typeface="Poppins"/>
              <a:cs typeface="Poppins"/>
              <a:sym typeface="Poppins"/>
            </a:endParaRPr>
          </a:p>
        </p:txBody>
      </p:sp>
      <p:sp>
        <p:nvSpPr>
          <p:cNvPr id="163" name="Google Shape;163;p19"/>
          <p:cNvSpPr txBox="1"/>
          <p:nvPr/>
        </p:nvSpPr>
        <p:spPr>
          <a:xfrm>
            <a:off x="6721835" y="1637965"/>
            <a:ext cx="1372800" cy="4002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Payment Failure</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Limited Payment Method</a:t>
            </a:r>
            <a:endParaRPr b="1" sz="700">
              <a:solidFill>
                <a:srgbClr val="E69138"/>
              </a:solidFill>
              <a:latin typeface="Poppins"/>
              <a:ea typeface="Poppins"/>
              <a:cs typeface="Poppins"/>
              <a:sym typeface="Poppins"/>
            </a:endParaRPr>
          </a:p>
        </p:txBody>
      </p:sp>
      <p:sp>
        <p:nvSpPr>
          <p:cNvPr id="164" name="Google Shape;164;p19"/>
          <p:cNvSpPr txBox="1"/>
          <p:nvPr/>
        </p:nvSpPr>
        <p:spPr>
          <a:xfrm>
            <a:off x="6721835" y="1127452"/>
            <a:ext cx="1372800" cy="400200"/>
          </a:xfrm>
          <a:prstGeom prst="rect">
            <a:avLst/>
          </a:prstGeom>
          <a:solidFill>
            <a:srgbClr val="FFF2CC"/>
          </a:solidFill>
          <a:ln cap="flat" cmpd="sng" w="19050">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Too Many Steps</a:t>
            </a:r>
            <a:endParaRPr b="1" sz="7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b="1" lang="en" sz="700">
                <a:solidFill>
                  <a:srgbClr val="E69138"/>
                </a:solidFill>
                <a:latin typeface="Poppins"/>
                <a:ea typeface="Poppins"/>
                <a:cs typeface="Poppins"/>
                <a:sym typeface="Poppins"/>
              </a:rPr>
              <a:t>Poor UX</a:t>
            </a:r>
            <a:endParaRPr b="1" sz="700">
              <a:solidFill>
                <a:srgbClr val="E69138"/>
              </a:solidFill>
              <a:latin typeface="Poppins"/>
              <a:ea typeface="Poppins"/>
              <a:cs typeface="Poppins"/>
              <a:sym typeface="Poppins"/>
            </a:endParaRPr>
          </a:p>
        </p:txBody>
      </p:sp>
      <p:cxnSp>
        <p:nvCxnSpPr>
          <p:cNvPr id="165" name="Google Shape;165;p19"/>
          <p:cNvCxnSpPr>
            <a:stCxn id="153" idx="3"/>
            <a:endCxn id="155" idx="1"/>
          </p:cNvCxnSpPr>
          <p:nvPr/>
        </p:nvCxnSpPr>
        <p:spPr>
          <a:xfrm flipH="1" rot="10800000">
            <a:off x="2491885" y="2096277"/>
            <a:ext cx="542400" cy="720000"/>
          </a:xfrm>
          <a:prstGeom prst="straightConnector1">
            <a:avLst/>
          </a:prstGeom>
          <a:noFill/>
          <a:ln cap="flat" cmpd="sng" w="9525">
            <a:solidFill>
              <a:schemeClr val="dk2"/>
            </a:solidFill>
            <a:prstDash val="solid"/>
            <a:round/>
            <a:headEnd len="med" w="med" type="none"/>
            <a:tailEnd len="med" w="med" type="triangle"/>
          </a:ln>
        </p:spPr>
      </p:cxnSp>
      <p:cxnSp>
        <p:nvCxnSpPr>
          <p:cNvPr id="166" name="Google Shape;166;p19"/>
          <p:cNvCxnSpPr>
            <a:stCxn id="153" idx="3"/>
            <a:endCxn id="156" idx="1"/>
          </p:cNvCxnSpPr>
          <p:nvPr/>
        </p:nvCxnSpPr>
        <p:spPr>
          <a:xfrm>
            <a:off x="2491885" y="2816277"/>
            <a:ext cx="623700" cy="723600"/>
          </a:xfrm>
          <a:prstGeom prst="straightConnector1">
            <a:avLst/>
          </a:prstGeom>
          <a:noFill/>
          <a:ln cap="flat" cmpd="sng" w="9525">
            <a:solidFill>
              <a:schemeClr val="dk2"/>
            </a:solidFill>
            <a:prstDash val="solid"/>
            <a:round/>
            <a:headEnd len="med" w="med" type="none"/>
            <a:tailEnd len="med" w="med" type="triangle"/>
          </a:ln>
        </p:spPr>
      </p:cxnSp>
      <p:cxnSp>
        <p:nvCxnSpPr>
          <p:cNvPr id="167" name="Google Shape;167;p19"/>
          <p:cNvCxnSpPr>
            <a:stCxn id="155" idx="3"/>
            <a:endCxn id="157" idx="1"/>
          </p:cNvCxnSpPr>
          <p:nvPr/>
        </p:nvCxnSpPr>
        <p:spPr>
          <a:xfrm flipH="1" rot="10800000">
            <a:off x="4407110" y="1327477"/>
            <a:ext cx="301800" cy="768900"/>
          </a:xfrm>
          <a:prstGeom prst="straightConnector1">
            <a:avLst/>
          </a:prstGeom>
          <a:noFill/>
          <a:ln cap="flat" cmpd="sng" w="9525">
            <a:solidFill>
              <a:schemeClr val="dk2"/>
            </a:solidFill>
            <a:prstDash val="solid"/>
            <a:round/>
            <a:headEnd len="med" w="med" type="none"/>
            <a:tailEnd len="med" w="med" type="triangle"/>
          </a:ln>
        </p:spPr>
      </p:cxnSp>
      <p:cxnSp>
        <p:nvCxnSpPr>
          <p:cNvPr id="168" name="Google Shape;168;p19"/>
          <p:cNvCxnSpPr>
            <a:stCxn id="155" idx="3"/>
            <a:endCxn id="158" idx="1"/>
          </p:cNvCxnSpPr>
          <p:nvPr/>
        </p:nvCxnSpPr>
        <p:spPr>
          <a:xfrm flipH="1" rot="10800000">
            <a:off x="4407110" y="1821277"/>
            <a:ext cx="306900" cy="2751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19"/>
          <p:cNvCxnSpPr>
            <a:stCxn id="155" idx="3"/>
            <a:endCxn id="159" idx="1"/>
          </p:cNvCxnSpPr>
          <p:nvPr/>
        </p:nvCxnSpPr>
        <p:spPr>
          <a:xfrm>
            <a:off x="4407110" y="2096377"/>
            <a:ext cx="301800" cy="3516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19"/>
          <p:cNvCxnSpPr>
            <a:stCxn id="156" idx="3"/>
            <a:endCxn id="160" idx="1"/>
          </p:cNvCxnSpPr>
          <p:nvPr/>
        </p:nvCxnSpPr>
        <p:spPr>
          <a:xfrm flipH="1" rot="10800000">
            <a:off x="4488285" y="3311427"/>
            <a:ext cx="492000" cy="2283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19"/>
          <p:cNvCxnSpPr>
            <a:stCxn id="156" idx="3"/>
            <a:endCxn id="161" idx="1"/>
          </p:cNvCxnSpPr>
          <p:nvPr/>
        </p:nvCxnSpPr>
        <p:spPr>
          <a:xfrm>
            <a:off x="4488285" y="3539727"/>
            <a:ext cx="550200" cy="5949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19"/>
          <p:cNvCxnSpPr>
            <a:stCxn id="157" idx="3"/>
            <a:endCxn id="164" idx="1"/>
          </p:cNvCxnSpPr>
          <p:nvPr/>
        </p:nvCxnSpPr>
        <p:spPr>
          <a:xfrm>
            <a:off x="6081735" y="1327540"/>
            <a:ext cx="640200" cy="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19"/>
          <p:cNvCxnSpPr>
            <a:stCxn id="158" idx="3"/>
            <a:endCxn id="163" idx="1"/>
          </p:cNvCxnSpPr>
          <p:nvPr/>
        </p:nvCxnSpPr>
        <p:spPr>
          <a:xfrm>
            <a:off x="6086672" y="1821402"/>
            <a:ext cx="635100" cy="1680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19"/>
          <p:cNvCxnSpPr>
            <a:stCxn id="159" idx="3"/>
            <a:endCxn id="162" idx="1"/>
          </p:cNvCxnSpPr>
          <p:nvPr/>
        </p:nvCxnSpPr>
        <p:spPr>
          <a:xfrm>
            <a:off x="6081735" y="2447827"/>
            <a:ext cx="640200" cy="0"/>
          </a:xfrm>
          <a:prstGeom prst="straightConnector1">
            <a:avLst/>
          </a:prstGeom>
          <a:noFill/>
          <a:ln cap="flat" cmpd="sng" w="9525">
            <a:solidFill>
              <a:schemeClr val="dk2"/>
            </a:solidFill>
            <a:prstDash val="solid"/>
            <a:round/>
            <a:headEnd len="med" w="med" type="none"/>
            <a:tailEnd len="med" w="med" type="triangle"/>
          </a:ln>
        </p:spPr>
      </p:cxnSp>
      <p:sp>
        <p:nvSpPr>
          <p:cNvPr id="175" name="Google Shape;175;p19"/>
          <p:cNvSpPr txBox="1"/>
          <p:nvPr/>
        </p:nvSpPr>
        <p:spPr>
          <a:xfrm>
            <a:off x="1303725" y="560925"/>
            <a:ext cx="3000000" cy="338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000">
                <a:solidFill>
                  <a:srgbClr val="E69138"/>
                </a:solidFill>
                <a:latin typeface="Poppins"/>
                <a:ea typeface="Poppins"/>
                <a:cs typeface="Poppins"/>
                <a:sym typeface="Poppins"/>
              </a:rPr>
              <a:t>Mengapa Conversion Rate Rendah?</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 name="Shape 179"/>
        <p:cNvGrpSpPr/>
        <p:nvPr/>
      </p:nvGrpSpPr>
      <p:grpSpPr>
        <a:xfrm>
          <a:off x="0" y="0"/>
          <a:ext cx="0" cy="0"/>
          <a:chOff x="0" y="0"/>
          <a:chExt cx="0" cy="0"/>
        </a:xfrm>
      </p:grpSpPr>
      <p:sp>
        <p:nvSpPr>
          <p:cNvPr id="180" name="Google Shape;180;p20"/>
          <p:cNvSpPr/>
          <p:nvPr/>
        </p:nvSpPr>
        <p:spPr>
          <a:xfrm>
            <a:off x="-62726" y="0"/>
            <a:ext cx="1062000" cy="13092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81" name="Google Shape;181;p20"/>
          <p:cNvSpPr txBox="1"/>
          <p:nvPr/>
        </p:nvSpPr>
        <p:spPr>
          <a:xfrm>
            <a:off x="497500" y="610275"/>
            <a:ext cx="5678400" cy="4062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1800">
                <a:solidFill>
                  <a:srgbClr val="E69138"/>
                </a:solidFill>
                <a:latin typeface="Poppins"/>
                <a:ea typeface="Poppins"/>
                <a:cs typeface="Poppins"/>
                <a:sym typeface="Poppins"/>
              </a:rPr>
              <a:t>Problem Statement, Objective, &amp; DARCI Model</a:t>
            </a:r>
            <a:endParaRPr b="1" sz="1800">
              <a:solidFill>
                <a:srgbClr val="E69138"/>
              </a:solidFill>
              <a:latin typeface="Poppins"/>
              <a:ea typeface="Poppins"/>
              <a:cs typeface="Poppins"/>
              <a:sym typeface="Poppins"/>
            </a:endParaRPr>
          </a:p>
        </p:txBody>
      </p:sp>
      <p:pic>
        <p:nvPicPr>
          <p:cNvPr id="182" name="Google Shape;182;p20"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183" name="Google Shape;183;p20"/>
          <p:cNvSpPr txBox="1"/>
          <p:nvPr/>
        </p:nvSpPr>
        <p:spPr>
          <a:xfrm>
            <a:off x="145995" y="311141"/>
            <a:ext cx="3911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E69138"/>
                </a:solidFill>
                <a:latin typeface="Poppins"/>
                <a:ea typeface="Poppins"/>
                <a:cs typeface="Poppins"/>
                <a:sym typeface="Poppins"/>
              </a:rPr>
              <a:t>Understanding Business Problem</a:t>
            </a:r>
            <a:endParaRPr/>
          </a:p>
        </p:txBody>
      </p:sp>
      <p:sp>
        <p:nvSpPr>
          <p:cNvPr id="184" name="Google Shape;184;p20"/>
          <p:cNvSpPr/>
          <p:nvPr/>
        </p:nvSpPr>
        <p:spPr>
          <a:xfrm>
            <a:off x="614324" y="1185550"/>
            <a:ext cx="4267500" cy="400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PROBLEM STATEMENT</a:t>
            </a:r>
            <a:endParaRPr b="1">
              <a:solidFill>
                <a:srgbClr val="E69138"/>
              </a:solidFill>
              <a:latin typeface="Poppins"/>
              <a:ea typeface="Poppins"/>
              <a:cs typeface="Poppins"/>
              <a:sym typeface="Poppins"/>
            </a:endParaRPr>
          </a:p>
        </p:txBody>
      </p:sp>
      <p:sp>
        <p:nvSpPr>
          <p:cNvPr id="185" name="Google Shape;185;p20"/>
          <p:cNvSpPr/>
          <p:nvPr/>
        </p:nvSpPr>
        <p:spPr>
          <a:xfrm>
            <a:off x="614324" y="3146050"/>
            <a:ext cx="4267500" cy="400200"/>
          </a:xfrm>
          <a:prstGeom prst="rect">
            <a:avLst/>
          </a:prstGeom>
          <a:solidFill>
            <a:schemeClr val="lt2"/>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OBJECTIVE</a:t>
            </a:r>
            <a:endParaRPr b="1">
              <a:solidFill>
                <a:srgbClr val="E69138"/>
              </a:solidFill>
              <a:latin typeface="Poppins"/>
              <a:ea typeface="Poppins"/>
              <a:cs typeface="Poppins"/>
              <a:sym typeface="Poppins"/>
            </a:endParaRPr>
          </a:p>
        </p:txBody>
      </p:sp>
      <p:sp>
        <p:nvSpPr>
          <p:cNvPr id="186" name="Google Shape;186;p20"/>
          <p:cNvSpPr/>
          <p:nvPr/>
        </p:nvSpPr>
        <p:spPr>
          <a:xfrm>
            <a:off x="618274" y="1688150"/>
            <a:ext cx="4267500" cy="13614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i="1" lang="en" sz="1000">
                <a:solidFill>
                  <a:srgbClr val="E69138"/>
                </a:solidFill>
                <a:latin typeface="Poppins Light"/>
                <a:ea typeface="Poppins Light"/>
                <a:cs typeface="Poppins Light"/>
                <a:sym typeface="Poppins Light"/>
              </a:rPr>
              <a:t>“</a:t>
            </a:r>
            <a:r>
              <a:rPr i="1" lang="en" sz="1000">
                <a:solidFill>
                  <a:srgbClr val="E69138"/>
                </a:solidFill>
                <a:latin typeface="Poppins Light"/>
                <a:ea typeface="Poppins Light"/>
                <a:cs typeface="Poppins Light"/>
                <a:sym typeface="Poppins Light"/>
              </a:rPr>
              <a:t>Bagaimana EcommerceU dapat meningkatkan conversion rate minimal 15% dalam enam bulan kedepan dan menurunkan </a:t>
            </a:r>
            <a:r>
              <a:rPr i="1" lang="en" sz="1000">
                <a:solidFill>
                  <a:srgbClr val="E69138"/>
                </a:solidFill>
                <a:latin typeface="Poppins"/>
                <a:ea typeface="Poppins"/>
                <a:cs typeface="Poppins"/>
                <a:sym typeface="Poppins"/>
              </a:rPr>
              <a:t>tingkat pembatalan transaksi dari ~35% menjadi di bawah 20% melalui identifikasi bottleneck pada customer funnel menggunakan data periode 2022–2023?”</a:t>
            </a:r>
            <a:endParaRPr i="1" sz="1000">
              <a:solidFill>
                <a:srgbClr val="E69138"/>
              </a:solidFill>
              <a:latin typeface="Poppins"/>
              <a:ea typeface="Poppins"/>
              <a:cs typeface="Poppins"/>
              <a:sym typeface="Poppins"/>
            </a:endParaRPr>
          </a:p>
          <a:p>
            <a:pPr indent="0" lvl="0" marL="0" rtl="0" algn="ctr">
              <a:spcBef>
                <a:spcPts val="876"/>
              </a:spcBef>
              <a:spcAft>
                <a:spcPts val="0"/>
              </a:spcAft>
              <a:buNone/>
            </a:pPr>
            <a:r>
              <a:t/>
            </a:r>
            <a:endParaRPr>
              <a:latin typeface="Average"/>
              <a:ea typeface="Average"/>
              <a:cs typeface="Average"/>
              <a:sym typeface="Average"/>
            </a:endParaRPr>
          </a:p>
        </p:txBody>
      </p:sp>
      <p:sp>
        <p:nvSpPr>
          <p:cNvPr id="187" name="Google Shape;187;p20"/>
          <p:cNvSpPr/>
          <p:nvPr/>
        </p:nvSpPr>
        <p:spPr>
          <a:xfrm>
            <a:off x="614324" y="3642750"/>
            <a:ext cx="4267500" cy="13614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None/>
            </a:pPr>
            <a:r>
              <a:rPr lang="en" sz="1000">
                <a:solidFill>
                  <a:srgbClr val="E69138"/>
                </a:solidFill>
                <a:latin typeface="Poppins"/>
                <a:ea typeface="Poppins"/>
                <a:cs typeface="Poppins"/>
                <a:sym typeface="Poppins"/>
              </a:rPr>
              <a:t>M</a:t>
            </a:r>
            <a:r>
              <a:rPr lang="en" sz="1000">
                <a:solidFill>
                  <a:srgbClr val="E69138"/>
                </a:solidFill>
                <a:latin typeface="Poppins"/>
                <a:ea typeface="Poppins"/>
                <a:cs typeface="Poppins"/>
                <a:sym typeface="Poppins"/>
              </a:rPr>
              <a:t>engidentifikasi strategi berbasis data yang dapat meningkatkan conversion rate dengan mengoptimalkan customer journey dari session hingga completed transaction, mengurangi cart abandonment dan cancellation, serta meningkatkan efisiensi funnel guna memaksimalkan revenue EcommerceU.</a:t>
            </a:r>
            <a:endParaRPr sz="1000">
              <a:solidFill>
                <a:srgbClr val="E69138"/>
              </a:solidFill>
              <a:latin typeface="Poppins"/>
              <a:ea typeface="Poppins"/>
              <a:cs typeface="Poppins"/>
              <a:sym typeface="Poppins"/>
            </a:endParaRPr>
          </a:p>
        </p:txBody>
      </p:sp>
      <p:sp>
        <p:nvSpPr>
          <p:cNvPr id="188" name="Google Shape;188;p20"/>
          <p:cNvSpPr txBox="1"/>
          <p:nvPr/>
        </p:nvSpPr>
        <p:spPr>
          <a:xfrm>
            <a:off x="5647150" y="956833"/>
            <a:ext cx="3000000" cy="4311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2000">
                <a:solidFill>
                  <a:srgbClr val="E69138"/>
                </a:solidFill>
                <a:latin typeface="Poppins"/>
                <a:ea typeface="Poppins"/>
                <a:cs typeface="Poppins"/>
                <a:sym typeface="Poppins"/>
              </a:rPr>
              <a:t>DARCI Model </a:t>
            </a:r>
            <a:endParaRPr/>
          </a:p>
        </p:txBody>
      </p:sp>
      <p:cxnSp>
        <p:nvCxnSpPr>
          <p:cNvPr id="189" name="Google Shape;189;p20"/>
          <p:cNvCxnSpPr/>
          <p:nvPr/>
        </p:nvCxnSpPr>
        <p:spPr>
          <a:xfrm>
            <a:off x="5962500" y="1399633"/>
            <a:ext cx="2346000" cy="0"/>
          </a:xfrm>
          <a:prstGeom prst="straightConnector1">
            <a:avLst/>
          </a:prstGeom>
          <a:noFill/>
          <a:ln cap="flat" cmpd="sng" w="28575">
            <a:solidFill>
              <a:srgbClr val="E69138"/>
            </a:solidFill>
            <a:prstDash val="solid"/>
            <a:round/>
            <a:headEnd len="med" w="med" type="none"/>
            <a:tailEnd len="med" w="med" type="none"/>
          </a:ln>
        </p:spPr>
      </p:cxnSp>
      <p:sp>
        <p:nvSpPr>
          <p:cNvPr id="190" name="Google Shape;190;p20"/>
          <p:cNvSpPr/>
          <p:nvPr/>
        </p:nvSpPr>
        <p:spPr>
          <a:xfrm>
            <a:off x="5937425" y="1512524"/>
            <a:ext cx="2446200" cy="6600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D - Decision Maker</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1200">
                <a:solidFill>
                  <a:srgbClr val="E69138"/>
                </a:solidFill>
                <a:latin typeface="Poppins"/>
                <a:ea typeface="Poppins"/>
                <a:cs typeface="Poppins"/>
                <a:sym typeface="Poppins"/>
              </a:rPr>
              <a:t>Head of E-Commerce</a:t>
            </a:r>
            <a:endParaRPr sz="1200">
              <a:solidFill>
                <a:srgbClr val="E69138"/>
              </a:solidFill>
              <a:latin typeface="Poppins"/>
              <a:ea typeface="Poppins"/>
              <a:cs typeface="Poppins"/>
              <a:sym typeface="Poppins"/>
            </a:endParaRPr>
          </a:p>
        </p:txBody>
      </p:sp>
      <p:sp>
        <p:nvSpPr>
          <p:cNvPr id="191" name="Google Shape;191;p20"/>
          <p:cNvSpPr/>
          <p:nvPr/>
        </p:nvSpPr>
        <p:spPr>
          <a:xfrm>
            <a:off x="5937425" y="2241749"/>
            <a:ext cx="2446200" cy="6600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A - Accountable</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1200">
                <a:solidFill>
                  <a:srgbClr val="E69138"/>
                </a:solidFill>
                <a:latin typeface="Poppins"/>
                <a:ea typeface="Poppins"/>
                <a:cs typeface="Poppins"/>
                <a:sym typeface="Poppins"/>
              </a:rPr>
              <a:t>Growth/Marketing Manager</a:t>
            </a:r>
            <a:endParaRPr sz="1200">
              <a:solidFill>
                <a:srgbClr val="E69138"/>
              </a:solidFill>
              <a:latin typeface="Poppins"/>
              <a:ea typeface="Poppins"/>
              <a:cs typeface="Poppins"/>
              <a:sym typeface="Poppins"/>
            </a:endParaRPr>
          </a:p>
        </p:txBody>
      </p:sp>
      <p:sp>
        <p:nvSpPr>
          <p:cNvPr id="192" name="Google Shape;192;p20"/>
          <p:cNvSpPr/>
          <p:nvPr/>
        </p:nvSpPr>
        <p:spPr>
          <a:xfrm>
            <a:off x="5937425" y="2970974"/>
            <a:ext cx="2446200" cy="6600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R- Responsible</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1200">
                <a:solidFill>
                  <a:srgbClr val="E69138"/>
                </a:solidFill>
                <a:latin typeface="Poppins"/>
                <a:ea typeface="Poppins"/>
                <a:cs typeface="Poppins"/>
                <a:sym typeface="Poppins"/>
              </a:rPr>
              <a:t>Data Analyst</a:t>
            </a:r>
            <a:endParaRPr sz="1200">
              <a:solidFill>
                <a:srgbClr val="E69138"/>
              </a:solidFill>
              <a:latin typeface="Poppins"/>
              <a:ea typeface="Poppins"/>
              <a:cs typeface="Poppins"/>
              <a:sym typeface="Poppins"/>
            </a:endParaRPr>
          </a:p>
        </p:txBody>
      </p:sp>
      <p:sp>
        <p:nvSpPr>
          <p:cNvPr id="193" name="Google Shape;193;p20"/>
          <p:cNvSpPr/>
          <p:nvPr/>
        </p:nvSpPr>
        <p:spPr>
          <a:xfrm>
            <a:off x="5937425" y="3700199"/>
            <a:ext cx="2446200" cy="6600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C - Consulted</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1200">
                <a:solidFill>
                  <a:srgbClr val="E69138"/>
                </a:solidFill>
                <a:latin typeface="Poppins"/>
                <a:ea typeface="Poppins"/>
                <a:cs typeface="Poppins"/>
                <a:sym typeface="Poppins"/>
              </a:rPr>
              <a:t>UX/UI, Product, &amp; Engineering Team</a:t>
            </a:r>
            <a:endParaRPr sz="1200">
              <a:solidFill>
                <a:srgbClr val="E69138"/>
              </a:solidFill>
              <a:latin typeface="Poppins"/>
              <a:ea typeface="Poppins"/>
              <a:cs typeface="Poppins"/>
              <a:sym typeface="Poppins"/>
            </a:endParaRPr>
          </a:p>
        </p:txBody>
      </p:sp>
      <p:sp>
        <p:nvSpPr>
          <p:cNvPr id="194" name="Google Shape;194;p20"/>
          <p:cNvSpPr/>
          <p:nvPr/>
        </p:nvSpPr>
        <p:spPr>
          <a:xfrm>
            <a:off x="5937425" y="4429414"/>
            <a:ext cx="2446200" cy="6600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I - Informed</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1200">
                <a:solidFill>
                  <a:srgbClr val="E69138"/>
                </a:solidFill>
                <a:latin typeface="Poppins"/>
                <a:ea typeface="Poppins"/>
                <a:cs typeface="Poppins"/>
                <a:sym typeface="Poppins"/>
              </a:rPr>
              <a:t>Finance Team &amp; Customer Support</a:t>
            </a:r>
            <a:endParaRPr sz="1200">
              <a:solidFill>
                <a:srgbClr val="E69138"/>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8" name="Shape 198"/>
        <p:cNvGrpSpPr/>
        <p:nvPr/>
      </p:nvGrpSpPr>
      <p:grpSpPr>
        <a:xfrm>
          <a:off x="0" y="0"/>
          <a:ext cx="0" cy="0"/>
          <a:chOff x="0" y="0"/>
          <a:chExt cx="0" cy="0"/>
        </a:xfrm>
      </p:grpSpPr>
      <p:pic>
        <p:nvPicPr>
          <p:cNvPr id="199" name="Google Shape;199;p21"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00" name="Google Shape;200;p21"/>
          <p:cNvSpPr txBox="1"/>
          <p:nvPr/>
        </p:nvSpPr>
        <p:spPr>
          <a:xfrm>
            <a:off x="543022" y="572150"/>
            <a:ext cx="5255700" cy="4062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1800">
                <a:solidFill>
                  <a:srgbClr val="E69138"/>
                </a:solidFill>
                <a:latin typeface="Poppins"/>
                <a:ea typeface="Poppins"/>
                <a:cs typeface="Poppins"/>
                <a:sym typeface="Poppins"/>
              </a:rPr>
              <a:t>E-CommerceU Business Performance KPI’s</a:t>
            </a:r>
            <a:endParaRPr b="1" sz="1800">
              <a:solidFill>
                <a:srgbClr val="E69138"/>
              </a:solidFill>
              <a:latin typeface="Poppins"/>
              <a:ea typeface="Poppins"/>
              <a:cs typeface="Poppins"/>
              <a:sym typeface="Poppins"/>
            </a:endParaRPr>
          </a:p>
        </p:txBody>
      </p:sp>
      <p:sp>
        <p:nvSpPr>
          <p:cNvPr id="201" name="Google Shape;201;p21"/>
          <p:cNvSpPr txBox="1"/>
          <p:nvPr/>
        </p:nvSpPr>
        <p:spPr>
          <a:xfrm>
            <a:off x="145998" y="311150"/>
            <a:ext cx="2283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E69138"/>
                </a:solidFill>
                <a:latin typeface="Poppins"/>
                <a:ea typeface="Poppins"/>
                <a:cs typeface="Poppins"/>
                <a:sym typeface="Poppins"/>
              </a:rPr>
              <a:t>The Big Picture</a:t>
            </a:r>
            <a:endParaRPr/>
          </a:p>
        </p:txBody>
      </p:sp>
      <p:sp>
        <p:nvSpPr>
          <p:cNvPr id="202" name="Google Shape;202;p21"/>
          <p:cNvSpPr txBox="1"/>
          <p:nvPr/>
        </p:nvSpPr>
        <p:spPr>
          <a:xfrm>
            <a:off x="6147118" y="54625"/>
            <a:ext cx="28389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en" sz="800">
                <a:solidFill>
                  <a:srgbClr val="FF9900"/>
                </a:solidFill>
                <a:latin typeface="Poppins"/>
                <a:ea typeface="Poppins"/>
                <a:cs typeface="Poppins"/>
                <a:sym typeface="Poppins"/>
              </a:rPr>
              <a:t>Periode Analisis : Desember 2019 - Desember 2022</a:t>
            </a:r>
            <a:endParaRPr b="1" sz="800">
              <a:solidFill>
                <a:srgbClr val="FF9900"/>
              </a:solidFill>
              <a:latin typeface="Poppins"/>
              <a:ea typeface="Poppins"/>
              <a:cs typeface="Poppins"/>
              <a:sym typeface="Poppins"/>
            </a:endParaRPr>
          </a:p>
        </p:txBody>
      </p:sp>
      <p:sp>
        <p:nvSpPr>
          <p:cNvPr id="203" name="Google Shape;203;p21"/>
          <p:cNvSpPr/>
          <p:nvPr/>
        </p:nvSpPr>
        <p:spPr>
          <a:xfrm>
            <a:off x="668475" y="1336900"/>
            <a:ext cx="1919400" cy="10788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E69138"/>
                </a:solidFill>
                <a:latin typeface="Poppins"/>
                <a:ea typeface="Poppins"/>
                <a:cs typeface="Poppins"/>
                <a:sym typeface="Poppins"/>
              </a:rPr>
              <a:t>19,173</a:t>
            </a:r>
            <a:endParaRPr b="1" sz="2000">
              <a:solidFill>
                <a:srgbClr val="E69138"/>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Total Transactions</a:t>
            </a:r>
            <a:endParaRPr sz="1000">
              <a:solidFill>
                <a:srgbClr val="E69138"/>
              </a:solidFill>
              <a:latin typeface="Poppins"/>
              <a:ea typeface="Poppins"/>
              <a:cs typeface="Poppins"/>
              <a:sym typeface="Poppins"/>
            </a:endParaRPr>
          </a:p>
        </p:txBody>
      </p:sp>
      <p:sp>
        <p:nvSpPr>
          <p:cNvPr id="204" name="Google Shape;204;p21"/>
          <p:cNvSpPr/>
          <p:nvPr/>
        </p:nvSpPr>
        <p:spPr>
          <a:xfrm>
            <a:off x="2652600" y="1336900"/>
            <a:ext cx="1919400" cy="10788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E69138"/>
                </a:solidFill>
                <a:latin typeface="Poppins"/>
                <a:ea typeface="Poppins"/>
                <a:cs typeface="Poppins"/>
                <a:sym typeface="Poppins"/>
              </a:rPr>
              <a:t>9,156</a:t>
            </a:r>
            <a:endParaRPr b="1" sz="2000">
              <a:solidFill>
                <a:srgbClr val="E69138"/>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Total Users</a:t>
            </a:r>
            <a:endParaRPr sz="1000">
              <a:solidFill>
                <a:srgbClr val="E69138"/>
              </a:solidFill>
              <a:latin typeface="Poppins"/>
              <a:ea typeface="Poppins"/>
              <a:cs typeface="Poppins"/>
              <a:sym typeface="Poppins"/>
            </a:endParaRPr>
          </a:p>
        </p:txBody>
      </p:sp>
      <p:sp>
        <p:nvSpPr>
          <p:cNvPr id="205" name="Google Shape;205;p21"/>
          <p:cNvSpPr/>
          <p:nvPr/>
        </p:nvSpPr>
        <p:spPr>
          <a:xfrm>
            <a:off x="4636725" y="1336900"/>
            <a:ext cx="1919400" cy="10788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E69138"/>
                </a:solidFill>
                <a:latin typeface="Poppins"/>
                <a:ea typeface="Poppins"/>
                <a:cs typeface="Poppins"/>
                <a:sym typeface="Poppins"/>
              </a:rPr>
              <a:t>Rp 15,3M</a:t>
            </a:r>
            <a:endParaRPr b="1" sz="2000">
              <a:solidFill>
                <a:srgbClr val="E69138"/>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Gross Merchandise Value (GMV)</a:t>
            </a:r>
            <a:endParaRPr sz="1000">
              <a:solidFill>
                <a:srgbClr val="E69138"/>
              </a:solidFill>
              <a:latin typeface="Poppins"/>
              <a:ea typeface="Poppins"/>
              <a:cs typeface="Poppins"/>
              <a:sym typeface="Poppins"/>
            </a:endParaRPr>
          </a:p>
        </p:txBody>
      </p:sp>
      <p:sp>
        <p:nvSpPr>
          <p:cNvPr id="206" name="Google Shape;206;p21"/>
          <p:cNvSpPr/>
          <p:nvPr/>
        </p:nvSpPr>
        <p:spPr>
          <a:xfrm>
            <a:off x="6620850" y="1336900"/>
            <a:ext cx="1919400" cy="10788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A4C2F4"/>
                </a:solidFill>
                <a:latin typeface="Poppins"/>
                <a:ea typeface="Poppins"/>
                <a:cs typeface="Poppins"/>
                <a:sym typeface="Poppins"/>
              </a:rPr>
              <a:t>Rp 1,24M</a:t>
            </a:r>
            <a:endParaRPr b="1" sz="2000">
              <a:solidFill>
                <a:srgbClr val="A4C2F4"/>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Average Order Value (AOV)</a:t>
            </a:r>
            <a:endParaRPr sz="1000">
              <a:solidFill>
                <a:srgbClr val="E69138"/>
              </a:solidFill>
              <a:latin typeface="Poppins"/>
              <a:ea typeface="Poppins"/>
              <a:cs typeface="Poppins"/>
              <a:sym typeface="Poppins"/>
            </a:endParaRPr>
          </a:p>
        </p:txBody>
      </p:sp>
      <p:sp>
        <p:nvSpPr>
          <p:cNvPr id="207" name="Google Shape;207;p21"/>
          <p:cNvSpPr/>
          <p:nvPr/>
        </p:nvSpPr>
        <p:spPr>
          <a:xfrm>
            <a:off x="1648875" y="2571750"/>
            <a:ext cx="1919400" cy="10788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4"/>
                </a:solidFill>
                <a:latin typeface="Poppins"/>
                <a:ea typeface="Poppins"/>
                <a:cs typeface="Poppins"/>
                <a:sym typeface="Poppins"/>
              </a:rPr>
              <a:t>4.2</a:t>
            </a:r>
            <a:endParaRPr b="1" sz="2000">
              <a:solidFill>
                <a:schemeClr val="accent4"/>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Avg Basket Size/Items per Transaction</a:t>
            </a:r>
            <a:endParaRPr sz="1000">
              <a:solidFill>
                <a:srgbClr val="E69138"/>
              </a:solidFill>
              <a:latin typeface="Poppins"/>
              <a:ea typeface="Poppins"/>
              <a:cs typeface="Poppins"/>
              <a:sym typeface="Poppins"/>
            </a:endParaRPr>
          </a:p>
        </p:txBody>
      </p:sp>
      <p:sp>
        <p:nvSpPr>
          <p:cNvPr id="208" name="Google Shape;208;p21"/>
          <p:cNvSpPr/>
          <p:nvPr/>
        </p:nvSpPr>
        <p:spPr>
          <a:xfrm>
            <a:off x="3612300" y="2571750"/>
            <a:ext cx="1919400" cy="1078800"/>
          </a:xfrm>
          <a:prstGeom prst="rect">
            <a:avLst/>
          </a:prstGeom>
          <a:no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4"/>
                </a:solidFill>
                <a:latin typeface="Poppins"/>
                <a:ea typeface="Poppins"/>
                <a:cs typeface="Poppins"/>
                <a:sym typeface="Poppins"/>
              </a:rPr>
              <a:t>64.3%</a:t>
            </a:r>
            <a:endParaRPr b="1" sz="2000">
              <a:solidFill>
                <a:schemeClr val="accent4"/>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Completion Rate </a:t>
            </a:r>
            <a:endParaRPr sz="1000">
              <a:solidFill>
                <a:srgbClr val="E69138"/>
              </a:solidFill>
              <a:latin typeface="Poppins"/>
              <a:ea typeface="Poppins"/>
              <a:cs typeface="Poppins"/>
              <a:sym typeface="Poppins"/>
            </a:endParaRPr>
          </a:p>
        </p:txBody>
      </p:sp>
      <p:sp>
        <p:nvSpPr>
          <p:cNvPr id="209" name="Google Shape;209;p21"/>
          <p:cNvSpPr/>
          <p:nvPr/>
        </p:nvSpPr>
        <p:spPr>
          <a:xfrm>
            <a:off x="5575725" y="2571750"/>
            <a:ext cx="1919400" cy="1078800"/>
          </a:xfrm>
          <a:prstGeom prst="rect">
            <a:avLst/>
          </a:prstGeom>
          <a:solidFill>
            <a:srgbClr val="F4CCCC"/>
          </a:solidFill>
          <a:ln cap="flat" cmpd="sng" w="1905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0000"/>
                </a:solidFill>
                <a:latin typeface="Poppins"/>
                <a:ea typeface="Poppins"/>
                <a:cs typeface="Poppins"/>
                <a:sym typeface="Poppins"/>
              </a:rPr>
              <a:t>35.7%</a:t>
            </a:r>
            <a:endParaRPr b="1" sz="2000">
              <a:solidFill>
                <a:srgbClr val="FF0000"/>
              </a:solidFill>
              <a:latin typeface="Poppins"/>
              <a:ea typeface="Poppins"/>
              <a:cs typeface="Poppins"/>
              <a:sym typeface="Poppins"/>
            </a:endParaRPr>
          </a:p>
          <a:p>
            <a:pPr indent="0" lvl="0" marL="0" rtl="0" algn="ctr">
              <a:spcBef>
                <a:spcPts val="0"/>
              </a:spcBef>
              <a:spcAft>
                <a:spcPts val="0"/>
              </a:spcAft>
              <a:buNone/>
            </a:pPr>
            <a:r>
              <a:rPr lang="en" sz="1000">
                <a:solidFill>
                  <a:srgbClr val="E69138"/>
                </a:solidFill>
                <a:latin typeface="Poppins"/>
                <a:ea typeface="Poppins"/>
                <a:cs typeface="Poppins"/>
                <a:sym typeface="Poppins"/>
              </a:rPr>
              <a:t>Cancellation Rate</a:t>
            </a:r>
            <a:endParaRPr sz="1000">
              <a:solidFill>
                <a:srgbClr val="E69138"/>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3" name="Shape 213"/>
        <p:cNvGrpSpPr/>
        <p:nvPr/>
      </p:nvGrpSpPr>
      <p:grpSpPr>
        <a:xfrm>
          <a:off x="0" y="0"/>
          <a:ext cx="0" cy="0"/>
          <a:chOff x="0" y="0"/>
          <a:chExt cx="0" cy="0"/>
        </a:xfrm>
      </p:grpSpPr>
      <p:sp>
        <p:nvSpPr>
          <p:cNvPr id="214" name="Google Shape;214;p22"/>
          <p:cNvSpPr txBox="1"/>
          <p:nvPr>
            <p:ph type="title"/>
          </p:nvPr>
        </p:nvSpPr>
        <p:spPr>
          <a:xfrm>
            <a:off x="502425" y="79725"/>
            <a:ext cx="49527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Monthly Active Users (MAU)</a:t>
            </a:r>
            <a:endParaRPr b="1" sz="2500">
              <a:solidFill>
                <a:srgbClr val="E69138"/>
              </a:solidFill>
              <a:latin typeface="Poppins"/>
              <a:ea typeface="Poppins"/>
              <a:cs typeface="Poppins"/>
              <a:sym typeface="Poppins"/>
            </a:endParaRPr>
          </a:p>
        </p:txBody>
      </p:sp>
      <p:sp>
        <p:nvSpPr>
          <p:cNvPr id="215" name="Google Shape;215;p22"/>
          <p:cNvSpPr txBox="1"/>
          <p:nvPr/>
        </p:nvSpPr>
        <p:spPr>
          <a:xfrm>
            <a:off x="6029775" y="733363"/>
            <a:ext cx="3047100" cy="416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Terjadi peningkatan MAU cukup signifikan di periode Q2 2020 – Q1 2021 (Pandemi Effect),</a:t>
            </a:r>
            <a:r>
              <a:rPr lang="en" sz="900">
                <a:solidFill>
                  <a:srgbClr val="E69138"/>
                </a:solidFill>
                <a:latin typeface="Poppins"/>
                <a:ea typeface="Poppins"/>
                <a:cs typeface="Poppins"/>
                <a:sym typeface="Poppins"/>
              </a:rPr>
              <a:t> Lonjakan awal bukan purely organic growth, tapi external shock (pandemi) yang menyebabkan perubahan perilaku konsumen ke online dan peningkatan kebutuhan belanja harian. </a:t>
            </a:r>
            <a:r>
              <a:rPr lang="en" sz="1100">
                <a:solidFill>
                  <a:srgbClr val="E69138"/>
                </a:solidFill>
              </a:rPr>
              <a:t> </a:t>
            </a:r>
            <a:r>
              <a:rPr lang="en" sz="900">
                <a:solidFill>
                  <a:srgbClr val="E69138"/>
                </a:solidFill>
                <a:latin typeface="Poppins"/>
                <a:ea typeface="Poppins"/>
                <a:cs typeface="Poppins"/>
                <a:sym typeface="Poppins"/>
              </a:rPr>
              <a:t>Ini memvalidasi </a:t>
            </a:r>
            <a:r>
              <a:rPr i="1" lang="en" sz="900">
                <a:solidFill>
                  <a:srgbClr val="E69138"/>
                </a:solidFill>
                <a:latin typeface="Poppins"/>
                <a:ea typeface="Poppins"/>
                <a:cs typeface="Poppins"/>
                <a:sym typeface="Poppins"/>
              </a:rPr>
              <a:t>business context</a:t>
            </a:r>
            <a:r>
              <a:rPr lang="en" sz="900">
                <a:solidFill>
                  <a:srgbClr val="E69138"/>
                </a:solidFill>
                <a:latin typeface="Poppins"/>
                <a:ea typeface="Poppins"/>
                <a:cs typeface="Poppins"/>
                <a:sym typeface="Poppins"/>
              </a:rPr>
              <a:t> pertama, yaitu </a:t>
            </a:r>
            <a:r>
              <a:rPr b="1" lang="en" sz="900">
                <a:solidFill>
                  <a:srgbClr val="E69138"/>
                </a:solidFill>
                <a:latin typeface="Poppins"/>
                <a:ea typeface="Poppins"/>
                <a:cs typeface="Poppins"/>
                <a:sym typeface="Poppins"/>
              </a:rPr>
              <a:t>pembatasan sosial (PSBB/Lockdown) memaksa masyarakat beralih ke belanja </a:t>
            </a:r>
            <a:r>
              <a:rPr b="1" i="1" lang="en" sz="900">
                <a:solidFill>
                  <a:srgbClr val="E69138"/>
                </a:solidFill>
                <a:latin typeface="Poppins"/>
                <a:ea typeface="Poppins"/>
                <a:cs typeface="Poppins"/>
                <a:sym typeface="Poppins"/>
              </a:rPr>
              <a:t>online</a:t>
            </a:r>
            <a:r>
              <a:rPr b="1" lang="en" sz="900">
                <a:solidFill>
                  <a:srgbClr val="E69138"/>
                </a:solidFill>
                <a:latin typeface="Poppins"/>
                <a:ea typeface="Poppins"/>
                <a:cs typeface="Poppins"/>
                <a:sym typeface="Poppins"/>
              </a:rPr>
              <a:t> untuk memenuhi kebutuhan sehari-hari, menciptakan adaptasi digital.</a:t>
            </a:r>
            <a:endParaRPr b="1"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Lonjakan besar di Q4 mulai Oct 2021 (~4.9K) dan Oct 2022 (~5.4K)</a:t>
            </a:r>
            <a:r>
              <a:rPr lang="en" sz="900">
                <a:solidFill>
                  <a:srgbClr val="E69138"/>
                </a:solidFill>
                <a:latin typeface="Poppins"/>
                <a:ea typeface="Poppins"/>
                <a:cs typeface="Poppins"/>
                <a:sym typeface="Poppins"/>
              </a:rPr>
              <a:t> kemungkinan besar karena big campaign e-commerce yaitu </a:t>
            </a:r>
            <a:r>
              <a:rPr b="1" i="1" lang="en" sz="900">
                <a:solidFill>
                  <a:srgbClr val="E69138"/>
                </a:solidFill>
                <a:latin typeface="Poppins"/>
                <a:ea typeface="Poppins"/>
                <a:cs typeface="Poppins"/>
                <a:sym typeface="Poppins"/>
              </a:rPr>
              <a:t>twin date promotion.</a:t>
            </a:r>
            <a:endParaRPr b="1" i="1"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Periode Q2 adalah Ramadan &amp; Idul Fitri tapi dari grafik kenaikan tidak selalu konsisten besar, artinya </a:t>
            </a:r>
            <a:r>
              <a:rPr b="1" lang="en" sz="900">
                <a:solidFill>
                  <a:srgbClr val="E69138"/>
                </a:solidFill>
                <a:latin typeface="Poppins"/>
                <a:ea typeface="Poppins"/>
                <a:cs typeface="Poppins"/>
                <a:sym typeface="Poppins"/>
              </a:rPr>
              <a:t>potensi seasonal demand belum dimaksimalkan secara optimal.</a:t>
            </a:r>
            <a:endParaRPr b="1"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Tidak ada Retained Growth</a:t>
            </a:r>
            <a:r>
              <a:rPr lang="en" sz="900">
                <a:solidFill>
                  <a:srgbClr val="E69138"/>
                </a:solidFill>
                <a:latin typeface="Poppins"/>
                <a:ea typeface="Poppins"/>
                <a:cs typeface="Poppins"/>
                <a:sym typeface="Poppins"/>
              </a:rPr>
              <a:t>, setelah setiap spike, MAU langsung drop, platform belum berhasil mempertahankan user (promo-driven)</a:t>
            </a:r>
            <a:endParaRPr sz="900">
              <a:solidFill>
                <a:srgbClr val="E69138"/>
              </a:solidFill>
              <a:latin typeface="Poppins"/>
              <a:ea typeface="Poppins"/>
              <a:cs typeface="Poppins"/>
              <a:sym typeface="Poppins"/>
            </a:endParaRPr>
          </a:p>
        </p:txBody>
      </p:sp>
      <p:pic>
        <p:nvPicPr>
          <p:cNvPr id="216" name="Google Shape;216;p22"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17" name="Google Shape;217;p22"/>
          <p:cNvSpPr txBox="1"/>
          <p:nvPr/>
        </p:nvSpPr>
        <p:spPr>
          <a:xfrm>
            <a:off x="188175" y="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E69138"/>
                </a:solidFill>
                <a:latin typeface="Poppins"/>
                <a:ea typeface="Poppins"/>
                <a:cs typeface="Poppins"/>
                <a:sym typeface="Poppins"/>
              </a:rPr>
              <a:t>Business Performance</a:t>
            </a:r>
            <a:endParaRPr/>
          </a:p>
        </p:txBody>
      </p:sp>
      <p:pic>
        <p:nvPicPr>
          <p:cNvPr id="218" name="Google Shape;218;p22"/>
          <p:cNvPicPr preferRelativeResize="0"/>
          <p:nvPr/>
        </p:nvPicPr>
        <p:blipFill>
          <a:blip r:embed="rId4">
            <a:alphaModFix/>
          </a:blip>
          <a:stretch>
            <a:fillRect/>
          </a:stretch>
        </p:blipFill>
        <p:spPr>
          <a:xfrm>
            <a:off x="188175" y="1216150"/>
            <a:ext cx="5741350" cy="2711193"/>
          </a:xfrm>
          <a:prstGeom prst="rect">
            <a:avLst/>
          </a:prstGeom>
          <a:noFill/>
          <a:ln cap="flat" cmpd="sng" w="9525">
            <a:solidFill>
              <a:srgbClr val="E69138"/>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2" name="Shape 222"/>
        <p:cNvGrpSpPr/>
        <p:nvPr/>
      </p:nvGrpSpPr>
      <p:grpSpPr>
        <a:xfrm>
          <a:off x="0" y="0"/>
          <a:ext cx="0" cy="0"/>
          <a:chOff x="0" y="0"/>
          <a:chExt cx="0" cy="0"/>
        </a:xfrm>
      </p:grpSpPr>
      <p:sp>
        <p:nvSpPr>
          <p:cNvPr id="223" name="Google Shape;223;p23"/>
          <p:cNvSpPr txBox="1"/>
          <p:nvPr>
            <p:ph type="title"/>
          </p:nvPr>
        </p:nvSpPr>
        <p:spPr>
          <a:xfrm>
            <a:off x="475450" y="29593"/>
            <a:ext cx="68466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Gross Merchandise Value (GMV) Trend</a:t>
            </a:r>
            <a:endParaRPr b="1" sz="2500">
              <a:solidFill>
                <a:srgbClr val="E69138"/>
              </a:solidFill>
              <a:latin typeface="Poppins"/>
              <a:ea typeface="Poppins"/>
              <a:cs typeface="Poppins"/>
              <a:sym typeface="Poppins"/>
            </a:endParaRPr>
          </a:p>
        </p:txBody>
      </p:sp>
      <p:pic>
        <p:nvPicPr>
          <p:cNvPr id="224" name="Google Shape;224;p23"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25" name="Google Shape;225;p23"/>
          <p:cNvSpPr txBox="1"/>
          <p:nvPr/>
        </p:nvSpPr>
        <p:spPr>
          <a:xfrm>
            <a:off x="5661300" y="601671"/>
            <a:ext cx="3398400" cy="4911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Pertumbuhan awal sangat kuat (2020 – awal 2021) GMV naik signifikan dari Rp 24M → &gt; Rp 1.5B dimana pertumbuhannya konsisten sepanjang 2020.</a:t>
            </a:r>
            <a:r>
              <a:rPr lang="en" sz="900">
                <a:solidFill>
                  <a:srgbClr val="E69138"/>
                </a:solidFill>
                <a:latin typeface="Poppins"/>
                <a:ea typeface="Poppins"/>
                <a:cs typeface="Poppins"/>
                <a:sym typeface="Poppins"/>
              </a:rPr>
              <a:t> Fase</a:t>
            </a:r>
            <a:r>
              <a:rPr i="1" lang="en" sz="900">
                <a:solidFill>
                  <a:srgbClr val="E69138"/>
                </a:solidFill>
                <a:latin typeface="Poppins"/>
                <a:ea typeface="Poppins"/>
                <a:cs typeface="Poppins"/>
                <a:sym typeface="Poppins"/>
              </a:rPr>
              <a:t> expansion &amp; user adoption</a:t>
            </a:r>
            <a:r>
              <a:rPr lang="en" sz="900">
                <a:solidFill>
                  <a:srgbClr val="E69138"/>
                </a:solidFill>
                <a:latin typeface="Poppins"/>
                <a:ea typeface="Poppins"/>
                <a:cs typeface="Poppins"/>
                <a:sym typeface="Poppins"/>
              </a:rPr>
              <a:t> tinggi, kemungkinan didorong oleh Pandemi sehingga orang-orang berpindah ke belanja online dan peningkatan </a:t>
            </a:r>
            <a:r>
              <a:rPr i="1" lang="en" sz="900">
                <a:solidFill>
                  <a:srgbClr val="E69138"/>
                </a:solidFill>
                <a:latin typeface="Poppins"/>
                <a:ea typeface="Poppins"/>
                <a:cs typeface="Poppins"/>
                <a:sym typeface="Poppins"/>
              </a:rPr>
              <a:t>demand</a:t>
            </a:r>
            <a:r>
              <a:rPr lang="en" sz="900">
                <a:solidFill>
                  <a:srgbClr val="E69138"/>
                </a:solidFill>
                <a:latin typeface="Poppins"/>
                <a:ea typeface="Poppins"/>
                <a:cs typeface="Poppins"/>
                <a:sym typeface="Poppins"/>
              </a:rPr>
              <a:t> lalu mulai tidak stabil setelah 2021</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Setelah peak awal 2021 GMV naik turun cukup tajam,</a:t>
            </a:r>
            <a:r>
              <a:rPr lang="en" sz="900">
                <a:solidFill>
                  <a:srgbClr val="E69138"/>
                </a:solidFill>
                <a:latin typeface="Poppins"/>
                <a:ea typeface="Poppins"/>
                <a:cs typeface="Poppins"/>
                <a:sym typeface="Poppins"/>
              </a:rPr>
              <a:t> mulai dari sini tidak ada tren naik yang konsisten, secara keseluruhan tahun 2022 menunjukkan tren bisnis yang sedang berjuang keras untuk mempertahankan angka.</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Spike besar di Q4 2021 (Rp 2,516M)</a:t>
            </a:r>
            <a:r>
              <a:rPr lang="en" sz="900">
                <a:solidFill>
                  <a:srgbClr val="E69138"/>
                </a:solidFill>
                <a:latin typeface="Poppins"/>
                <a:ea typeface="Poppins"/>
                <a:cs typeface="Poppins"/>
                <a:sym typeface="Poppins"/>
              </a:rPr>
              <a:t>, Ini adalah titik tertinggi sangat kemungkinan dipicu oleh </a:t>
            </a:r>
            <a:r>
              <a:rPr b="1" i="1" lang="en" sz="900">
                <a:solidFill>
                  <a:srgbClr val="E69138"/>
                </a:solidFill>
                <a:latin typeface="Poppins"/>
                <a:ea typeface="Poppins"/>
                <a:cs typeface="Poppins"/>
                <a:sym typeface="Poppins"/>
              </a:rPr>
              <a:t>twin date campaign</a:t>
            </a:r>
            <a:r>
              <a:rPr lang="en" sz="900">
                <a:solidFill>
                  <a:srgbClr val="E69138"/>
                </a:solidFill>
                <a:latin typeface="Poppins"/>
                <a:ea typeface="Poppins"/>
                <a:cs typeface="Poppins"/>
                <a:sym typeface="Poppins"/>
              </a:rPr>
              <a:t>. Artinya bahwa revenue sangat bergantung pada campaign besar.</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Penurunan setelah peak setelah Q4 2021, GMV turun dan fluktuatif bahkan drop cukup tajam di Q3 2022 yang berarti tidak ada retention / sustain setelah promo. Dari grafik ini terdapat pol</a:t>
            </a:r>
            <a:r>
              <a:rPr lang="en" sz="900">
                <a:solidFill>
                  <a:srgbClr val="E69138"/>
                </a:solidFill>
                <a:latin typeface="Poppins"/>
                <a:ea typeface="Poppins"/>
                <a:cs typeface="Poppins"/>
                <a:sym typeface="Poppins"/>
              </a:rPr>
              <a:t>a</a:t>
            </a:r>
            <a:r>
              <a:rPr lang="en" sz="900">
                <a:solidFill>
                  <a:srgbClr val="E69138"/>
                </a:solidFill>
                <a:latin typeface="Poppins"/>
                <a:ea typeface="Poppins"/>
                <a:cs typeface="Poppins"/>
                <a:sym typeface="Poppins"/>
              </a:rPr>
              <a:t> yang berulang</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spike → drop → spike → drop</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tidak ada growth yang smooth, artinya business promo-driven, bukan organic growth.</a:t>
            </a:r>
            <a:endParaRPr b="1"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t/>
            </a:r>
            <a:endParaRPr sz="900">
              <a:solidFill>
                <a:srgbClr val="E69138"/>
              </a:solidFill>
              <a:latin typeface="Poppins"/>
              <a:ea typeface="Poppins"/>
              <a:cs typeface="Poppins"/>
              <a:sym typeface="Poppins"/>
            </a:endParaRPr>
          </a:p>
        </p:txBody>
      </p:sp>
      <p:pic>
        <p:nvPicPr>
          <p:cNvPr id="226" name="Google Shape;226;p23"/>
          <p:cNvPicPr preferRelativeResize="0"/>
          <p:nvPr/>
        </p:nvPicPr>
        <p:blipFill>
          <a:blip r:embed="rId4">
            <a:alphaModFix/>
          </a:blip>
          <a:stretch>
            <a:fillRect/>
          </a:stretch>
        </p:blipFill>
        <p:spPr>
          <a:xfrm>
            <a:off x="227675" y="1704314"/>
            <a:ext cx="5353399" cy="2505167"/>
          </a:xfrm>
          <a:prstGeom prst="rect">
            <a:avLst/>
          </a:prstGeom>
          <a:noFill/>
          <a:ln cap="flat" cmpd="sng" w="9525">
            <a:solidFill>
              <a:srgbClr val="E69138"/>
            </a:solidFill>
            <a:prstDash val="solid"/>
            <a:round/>
            <a:headEnd len="sm" w="sm" type="none"/>
            <a:tailEnd len="sm" w="sm" type="none"/>
          </a:ln>
        </p:spPr>
      </p:pic>
      <p:sp>
        <p:nvSpPr>
          <p:cNvPr id="227" name="Google Shape;227;p23"/>
          <p:cNvSpPr txBox="1"/>
          <p:nvPr/>
        </p:nvSpPr>
        <p:spPr>
          <a:xfrm>
            <a:off x="260684" y="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E69138"/>
                </a:solidFill>
                <a:latin typeface="Poppins"/>
                <a:ea typeface="Poppins"/>
                <a:cs typeface="Poppins"/>
                <a:sym typeface="Poppins"/>
              </a:rPr>
              <a:t>Business Performance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1" name="Shape 231"/>
        <p:cNvGrpSpPr/>
        <p:nvPr/>
      </p:nvGrpSpPr>
      <p:grpSpPr>
        <a:xfrm>
          <a:off x="0" y="0"/>
          <a:ext cx="0" cy="0"/>
          <a:chOff x="0" y="0"/>
          <a:chExt cx="0" cy="0"/>
        </a:xfrm>
      </p:grpSpPr>
      <p:sp>
        <p:nvSpPr>
          <p:cNvPr id="232" name="Google Shape;232;p24"/>
          <p:cNvSpPr txBox="1"/>
          <p:nvPr>
            <p:ph type="title"/>
          </p:nvPr>
        </p:nvSpPr>
        <p:spPr>
          <a:xfrm>
            <a:off x="645900" y="193200"/>
            <a:ext cx="52914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Average Order Value (AOV)</a:t>
            </a:r>
            <a:endParaRPr b="1" sz="2500">
              <a:solidFill>
                <a:srgbClr val="E69138"/>
              </a:solidFill>
              <a:latin typeface="Poppins"/>
              <a:ea typeface="Poppins"/>
              <a:cs typeface="Poppins"/>
              <a:sym typeface="Poppins"/>
            </a:endParaRPr>
          </a:p>
        </p:txBody>
      </p:sp>
      <p:pic>
        <p:nvPicPr>
          <p:cNvPr id="233" name="Google Shape;233;p24"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34" name="Google Shape;234;p24"/>
          <p:cNvSpPr txBox="1"/>
          <p:nvPr/>
        </p:nvSpPr>
        <p:spPr>
          <a:xfrm>
            <a:off x="5741484" y="1337125"/>
            <a:ext cx="3343200" cy="3504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AOV sempat naik signifikan di awal (2020–2021), AOV Peak: Rp 1,41M (Q2 2020), artinya user awalnya membeli dengan nilai transaksi yang lebih besar, Kemungkinan efek pandemi → </a:t>
            </a:r>
            <a:r>
              <a:rPr b="1" i="1" lang="en" sz="900">
                <a:solidFill>
                  <a:srgbClr val="E69138"/>
                </a:solidFill>
                <a:latin typeface="Poppins"/>
                <a:ea typeface="Poppins"/>
                <a:cs typeface="Poppins"/>
                <a:sym typeface="Poppins"/>
              </a:rPr>
              <a:t>bulk buying</a:t>
            </a:r>
            <a:r>
              <a:rPr b="1" lang="en" sz="900">
                <a:solidFill>
                  <a:srgbClr val="E69138"/>
                </a:solidFill>
                <a:latin typeface="Poppins"/>
                <a:ea typeface="Poppins"/>
                <a:cs typeface="Poppins"/>
                <a:sym typeface="Poppins"/>
              </a:rPr>
              <a:t> (belanja borongan/dalam jumlah besar sekaligus) / kebutuhan tinggi.</a:t>
            </a:r>
            <a:r>
              <a:rPr lang="en" sz="900">
                <a:solidFill>
                  <a:srgbClr val="E69138"/>
                </a:solidFill>
                <a:latin typeface="Poppins"/>
                <a:ea typeface="Poppins"/>
                <a:cs typeface="Poppins"/>
                <a:sym typeface="Poppins"/>
              </a:rPr>
              <a:t> Setelah peak,</a:t>
            </a:r>
            <a:r>
              <a:rPr b="1" lang="en" sz="900">
                <a:solidFill>
                  <a:srgbClr val="E69138"/>
                </a:solidFill>
                <a:latin typeface="Poppins"/>
                <a:ea typeface="Poppins"/>
                <a:cs typeface="Poppins"/>
                <a:sym typeface="Poppins"/>
              </a:rPr>
              <a:t> AOV cenderung stagnan lalu menurun. Penurunan tajam di 2022 Q4 (AOV Drop Q4 2022: Rp0,94M).</a:t>
            </a:r>
            <a:r>
              <a:rPr lang="en" sz="900">
                <a:solidFill>
                  <a:srgbClr val="E69138"/>
                </a:solidFill>
                <a:latin typeface="Poppins"/>
                <a:ea typeface="Poppins"/>
                <a:cs typeface="Poppins"/>
                <a:sym typeface="Poppins"/>
              </a:rPr>
              <a:t> Ini bisa terjadi dimana saat promo 11.11 atau 12.12, pengguna mengejar </a:t>
            </a:r>
            <a:r>
              <a:rPr i="1" lang="en" sz="900">
                <a:solidFill>
                  <a:srgbClr val="E69138"/>
                </a:solidFill>
                <a:latin typeface="Poppins"/>
                <a:ea typeface="Poppins"/>
                <a:cs typeface="Poppins"/>
                <a:sym typeface="Poppins"/>
              </a:rPr>
              <a:t>Flash Sale</a:t>
            </a:r>
            <a:r>
              <a:rPr lang="en" sz="900">
                <a:solidFill>
                  <a:srgbClr val="E69138"/>
                </a:solidFill>
                <a:latin typeface="Poppins"/>
                <a:ea typeface="Poppins"/>
                <a:cs typeface="Poppins"/>
                <a:sym typeface="Poppins"/>
              </a:rPr>
              <a:t> barang murah atau memanfaatkan </a:t>
            </a:r>
            <a:r>
              <a:rPr i="1" lang="en" sz="900">
                <a:solidFill>
                  <a:srgbClr val="E69138"/>
                </a:solidFill>
                <a:latin typeface="Poppins"/>
                <a:ea typeface="Poppins"/>
                <a:cs typeface="Poppins"/>
                <a:sym typeface="Poppins"/>
              </a:rPr>
              <a:t>voucher</a:t>
            </a:r>
            <a:r>
              <a:rPr lang="en" sz="900">
                <a:solidFill>
                  <a:srgbClr val="E69138"/>
                </a:solidFill>
                <a:latin typeface="Poppins"/>
                <a:ea typeface="Poppins"/>
                <a:cs typeface="Poppins"/>
                <a:sym typeface="Poppins"/>
              </a:rPr>
              <a:t> Gratis Ongkir tanpa minimum belanja. Akibatnya, volume transaksi melonjak ratusan persen, tapi isi keranjangnya bernilai kecil (orang rela hanya </a:t>
            </a:r>
            <a:r>
              <a:rPr i="1" lang="en" sz="900">
                <a:solidFill>
                  <a:srgbClr val="E69138"/>
                </a:solidFill>
                <a:latin typeface="Poppins"/>
                <a:ea typeface="Poppins"/>
                <a:cs typeface="Poppins"/>
                <a:sym typeface="Poppins"/>
              </a:rPr>
              <a:t>checkout</a:t>
            </a:r>
            <a:r>
              <a:rPr lang="en" sz="900">
                <a:solidFill>
                  <a:srgbClr val="E69138"/>
                </a:solidFill>
                <a:latin typeface="Poppins"/>
                <a:ea typeface="Poppins"/>
                <a:cs typeface="Poppins"/>
                <a:sym typeface="Poppins"/>
              </a:rPr>
              <a:t> barang seharga Rp 15.000 karena gratis ongkir).</a:t>
            </a:r>
            <a:endParaRPr sz="7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Meskipun jumlah transaksi meningkat pada periode tertentu, nilai rata-rata per transaksi cenderung menurun, menunjukkan bahwa pertumbuhan bisnis lebih didorong oleh volume pembelian dibandingkan peningkatan nilai transaksi per user.</a:t>
            </a:r>
            <a:endParaRPr b="1" sz="900">
              <a:solidFill>
                <a:srgbClr val="E69138"/>
              </a:solidFill>
              <a:latin typeface="Poppins"/>
              <a:ea typeface="Poppins"/>
              <a:cs typeface="Poppins"/>
              <a:sym typeface="Poppins"/>
            </a:endParaRPr>
          </a:p>
        </p:txBody>
      </p:sp>
      <p:pic>
        <p:nvPicPr>
          <p:cNvPr id="235" name="Google Shape;235;p24"/>
          <p:cNvPicPr preferRelativeResize="0"/>
          <p:nvPr/>
        </p:nvPicPr>
        <p:blipFill>
          <a:blip r:embed="rId4">
            <a:alphaModFix/>
          </a:blip>
          <a:stretch>
            <a:fillRect/>
          </a:stretch>
        </p:blipFill>
        <p:spPr>
          <a:xfrm>
            <a:off x="254600" y="1432425"/>
            <a:ext cx="5436683" cy="2586186"/>
          </a:xfrm>
          <a:prstGeom prst="rect">
            <a:avLst/>
          </a:prstGeom>
          <a:noFill/>
          <a:ln cap="flat" cmpd="sng" w="9525">
            <a:solidFill>
              <a:srgbClr val="E69138"/>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9" name="Shape 239"/>
        <p:cNvGrpSpPr/>
        <p:nvPr/>
      </p:nvGrpSpPr>
      <p:grpSpPr>
        <a:xfrm>
          <a:off x="0" y="0"/>
          <a:ext cx="0" cy="0"/>
          <a:chOff x="0" y="0"/>
          <a:chExt cx="0" cy="0"/>
        </a:xfrm>
      </p:grpSpPr>
      <p:sp>
        <p:nvSpPr>
          <p:cNvPr id="240" name="Google Shape;240;p25"/>
          <p:cNvSpPr txBox="1"/>
          <p:nvPr>
            <p:ph type="title"/>
          </p:nvPr>
        </p:nvSpPr>
        <p:spPr>
          <a:xfrm>
            <a:off x="645900" y="193200"/>
            <a:ext cx="46641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Average Basket Size (ABS)</a:t>
            </a:r>
            <a:endParaRPr b="1" sz="2500">
              <a:solidFill>
                <a:srgbClr val="E69138"/>
              </a:solidFill>
              <a:latin typeface="Poppins"/>
              <a:ea typeface="Poppins"/>
              <a:cs typeface="Poppins"/>
              <a:sym typeface="Poppins"/>
            </a:endParaRPr>
          </a:p>
        </p:txBody>
      </p:sp>
      <p:pic>
        <p:nvPicPr>
          <p:cNvPr id="241" name="Google Shape;241;p25"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42" name="Google Shape;242;p25"/>
          <p:cNvSpPr txBox="1"/>
          <p:nvPr/>
        </p:nvSpPr>
        <p:spPr>
          <a:xfrm>
            <a:off x="5641575" y="683225"/>
            <a:ext cx="3343200" cy="450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ABS sempat naik di awal → peak di 2020 Q3 (~4.5 items). Artinya user dulu cenderung beli lebih banyak item dalam 1 transaksi (fenomena panic/bulk </a:t>
            </a:r>
            <a:r>
              <a:rPr lang="en" sz="900">
                <a:solidFill>
                  <a:srgbClr val="E69138"/>
                </a:solidFill>
                <a:latin typeface="Poppins"/>
                <a:ea typeface="Poppins"/>
                <a:cs typeface="Poppins"/>
                <a:sym typeface="Poppins"/>
              </a:rPr>
              <a:t>buying saat pandemi</a:t>
            </a:r>
            <a:r>
              <a:rPr lang="en" sz="900">
                <a:solidFill>
                  <a:srgbClr val="E69138"/>
                </a:solidFill>
                <a:latin typeface="Poppins"/>
                <a:ea typeface="Poppins"/>
                <a:cs typeface="Poppins"/>
                <a:sym typeface="Poppins"/>
              </a:rPr>
              <a:t>). Setelah itu, ABS stagnan lalu cenderung turun, penurunan paling tajam di Q4 2022, padahal Q4 = traffic tinggi dan campaign aktif (twin date) tapi basket size malah turun drastis. Artinya banyak user hanya beli 1–2 item → tidak maximize order.</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Pola konsisten dengan AOV</a:t>
            </a:r>
            <a:endParaRPr sz="900">
              <a:solidFill>
                <a:srgbClr val="E69138"/>
              </a:solidFill>
              <a:latin typeface="Poppins"/>
              <a:ea typeface="Poppins"/>
              <a:cs typeface="Poppins"/>
              <a:sym typeface="Poppins"/>
            </a:endParaRPr>
          </a:p>
          <a:p>
            <a:pPr indent="-298450" lvl="0" marL="457200" rtl="0" algn="l">
              <a:lnSpc>
                <a:spcPct val="115000"/>
              </a:lnSpc>
              <a:spcBef>
                <a:spcPts val="1200"/>
              </a:spcBef>
              <a:spcAft>
                <a:spcPts val="0"/>
              </a:spcAft>
              <a:buClr>
                <a:srgbClr val="E69138"/>
              </a:buClr>
              <a:buSzPts val="1100"/>
              <a:buChar char="●"/>
            </a:pPr>
            <a:r>
              <a:rPr lang="en" sz="900">
                <a:solidFill>
                  <a:srgbClr val="E69138"/>
                </a:solidFill>
                <a:latin typeface="Poppins"/>
                <a:ea typeface="Poppins"/>
                <a:cs typeface="Poppins"/>
                <a:sym typeface="Poppins"/>
              </a:rPr>
              <a:t>AOV ↓</a:t>
            </a:r>
            <a:endParaRPr sz="900">
              <a:solidFill>
                <a:srgbClr val="E69138"/>
              </a:solidFill>
              <a:latin typeface="Poppins"/>
              <a:ea typeface="Poppins"/>
              <a:cs typeface="Poppins"/>
              <a:sym typeface="Poppins"/>
            </a:endParaRPr>
          </a:p>
          <a:p>
            <a:pPr indent="-298450" lvl="0" marL="4572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ABS ↓ </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Bukan cuma harga turun → tapi jumlah item juga turun</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Penurunan Average Basket Size menunjukkan bahwa pengguna semakin cenderung melakukan pembelian dengan jumlah item yang lebih sedikit per transaksi, </a:t>
            </a:r>
            <a:r>
              <a:rPr lang="en" sz="900">
                <a:solidFill>
                  <a:srgbClr val="E69138"/>
                </a:solidFill>
                <a:latin typeface="Poppins"/>
                <a:ea typeface="Poppins"/>
                <a:cs typeface="Poppins"/>
                <a:sym typeface="Poppins"/>
              </a:rPr>
              <a:t>yang berkontribusi langsung terhadap penurunan AOV dan menunjukkan </a:t>
            </a:r>
            <a:r>
              <a:rPr b="1" lang="en" sz="900">
                <a:solidFill>
                  <a:srgbClr val="E69138"/>
                </a:solidFill>
                <a:latin typeface="Poppins"/>
                <a:ea typeface="Poppins"/>
                <a:cs typeface="Poppins"/>
                <a:sym typeface="Poppins"/>
              </a:rPr>
              <a:t>kurang optimalnya strategi upselling atau bundling. </a:t>
            </a:r>
            <a:r>
              <a:rPr lang="en" sz="900">
                <a:solidFill>
                  <a:srgbClr val="E69138"/>
                </a:solidFill>
                <a:latin typeface="Poppins"/>
                <a:ea typeface="Poppins"/>
                <a:cs typeface="Poppins"/>
                <a:sym typeface="Poppins"/>
              </a:rPr>
              <a:t>(Bukan hanya harga turun, jumlah item juga berkurang)</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t/>
            </a:r>
            <a:endParaRPr sz="900">
              <a:solidFill>
                <a:srgbClr val="E69138"/>
              </a:solidFill>
              <a:latin typeface="Poppins"/>
              <a:ea typeface="Poppins"/>
              <a:cs typeface="Poppins"/>
              <a:sym typeface="Poppins"/>
            </a:endParaRPr>
          </a:p>
        </p:txBody>
      </p:sp>
      <p:pic>
        <p:nvPicPr>
          <p:cNvPr id="243" name="Google Shape;243;p25"/>
          <p:cNvPicPr preferRelativeResize="0"/>
          <p:nvPr/>
        </p:nvPicPr>
        <p:blipFill>
          <a:blip r:embed="rId4">
            <a:alphaModFix/>
          </a:blip>
          <a:stretch>
            <a:fillRect/>
          </a:stretch>
        </p:blipFill>
        <p:spPr>
          <a:xfrm>
            <a:off x="216975" y="1444950"/>
            <a:ext cx="5424598" cy="2542274"/>
          </a:xfrm>
          <a:prstGeom prst="rect">
            <a:avLst/>
          </a:prstGeom>
          <a:noFill/>
          <a:ln cap="flat" cmpd="sng" w="9525">
            <a:solidFill>
              <a:srgbClr val="E69138"/>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7" name="Shape 247"/>
        <p:cNvGrpSpPr/>
        <p:nvPr/>
      </p:nvGrpSpPr>
      <p:grpSpPr>
        <a:xfrm>
          <a:off x="0" y="0"/>
          <a:ext cx="0" cy="0"/>
          <a:chOff x="0" y="0"/>
          <a:chExt cx="0" cy="0"/>
        </a:xfrm>
      </p:grpSpPr>
      <p:sp>
        <p:nvSpPr>
          <p:cNvPr id="248" name="Google Shape;248;p26"/>
          <p:cNvSpPr txBox="1"/>
          <p:nvPr>
            <p:ph type="title"/>
          </p:nvPr>
        </p:nvSpPr>
        <p:spPr>
          <a:xfrm>
            <a:off x="645900" y="1932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Funnel Event Level</a:t>
            </a:r>
            <a:endParaRPr b="1" sz="1900">
              <a:solidFill>
                <a:srgbClr val="E69138"/>
              </a:solidFill>
              <a:latin typeface="Poppins"/>
              <a:ea typeface="Poppins"/>
              <a:cs typeface="Poppins"/>
              <a:sym typeface="Poppins"/>
            </a:endParaRPr>
          </a:p>
        </p:txBody>
      </p:sp>
      <p:pic>
        <p:nvPicPr>
          <p:cNvPr id="249" name="Google Shape;249;p26"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50" name="Google Shape;250;p26"/>
          <p:cNvSpPr txBox="1"/>
          <p:nvPr/>
        </p:nvSpPr>
        <p:spPr>
          <a:xfrm>
            <a:off x="5715034" y="2834824"/>
            <a:ext cx="3343200" cy="143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Checkout → Complete</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Terjadi penurunan signifikan Conversion hanya 64.3%, yang berarti 35.7% user gagal menyelesaikan transaksi.</a:t>
            </a:r>
            <a:r>
              <a:rPr lang="en" sz="900">
                <a:solidFill>
                  <a:srgbClr val="E69138"/>
                </a:solidFill>
                <a:latin typeface="Poppins"/>
                <a:ea typeface="Poppins"/>
                <a:cs typeface="Poppins"/>
                <a:sym typeface="Poppins"/>
              </a:rPr>
              <a:t> Hampir 1 dari 3 user yang sudah checkout akhirnya cancel. Hal ini menunjukkan adanya friction signifikan pada proses pembayaran atau finalisasi transaksi.</a:t>
            </a:r>
            <a:endParaRPr sz="900">
              <a:solidFill>
                <a:srgbClr val="E69138"/>
              </a:solidFill>
              <a:latin typeface="Poppins"/>
              <a:ea typeface="Poppins"/>
              <a:cs typeface="Poppins"/>
              <a:sym typeface="Poppins"/>
            </a:endParaRPr>
          </a:p>
        </p:txBody>
      </p:sp>
      <p:pic>
        <p:nvPicPr>
          <p:cNvPr id="251" name="Google Shape;251;p26"/>
          <p:cNvPicPr preferRelativeResize="0"/>
          <p:nvPr/>
        </p:nvPicPr>
        <p:blipFill>
          <a:blip r:embed="rId4">
            <a:alphaModFix/>
          </a:blip>
          <a:stretch>
            <a:fillRect/>
          </a:stretch>
        </p:blipFill>
        <p:spPr>
          <a:xfrm>
            <a:off x="304800" y="1344600"/>
            <a:ext cx="5410234" cy="3159696"/>
          </a:xfrm>
          <a:prstGeom prst="rect">
            <a:avLst/>
          </a:prstGeom>
          <a:noFill/>
          <a:ln cap="flat" cmpd="sng" w="9525">
            <a:solidFill>
              <a:srgbClr val="E69138"/>
            </a:solidFill>
            <a:prstDash val="solid"/>
            <a:round/>
            <a:headEnd len="sm" w="sm" type="none"/>
            <a:tailEnd len="sm" w="sm" type="none"/>
          </a:ln>
        </p:spPr>
      </p:pic>
      <p:pic>
        <p:nvPicPr>
          <p:cNvPr id="252" name="Google Shape;252;p26"/>
          <p:cNvPicPr preferRelativeResize="0"/>
          <p:nvPr/>
        </p:nvPicPr>
        <p:blipFill rotWithShape="1">
          <a:blip r:embed="rId5">
            <a:alphaModFix/>
          </a:blip>
          <a:srcRect b="-90" l="0" r="0" t="90"/>
          <a:stretch/>
        </p:blipFill>
        <p:spPr>
          <a:xfrm>
            <a:off x="5802850" y="1344600"/>
            <a:ext cx="1187425" cy="1433025"/>
          </a:xfrm>
          <a:prstGeom prst="rect">
            <a:avLst/>
          </a:prstGeom>
          <a:noFill/>
          <a:ln cap="flat" cmpd="sng" w="9525">
            <a:solidFill>
              <a:srgbClr val="E69138"/>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6" name="Shape 256"/>
        <p:cNvGrpSpPr/>
        <p:nvPr/>
      </p:nvGrpSpPr>
      <p:grpSpPr>
        <a:xfrm>
          <a:off x="0" y="0"/>
          <a:ext cx="0" cy="0"/>
          <a:chOff x="0" y="0"/>
          <a:chExt cx="0" cy="0"/>
        </a:xfrm>
      </p:grpSpPr>
      <p:sp>
        <p:nvSpPr>
          <p:cNvPr id="257" name="Google Shape;257;p27"/>
          <p:cNvSpPr txBox="1"/>
          <p:nvPr>
            <p:ph type="title"/>
          </p:nvPr>
        </p:nvSpPr>
        <p:spPr>
          <a:xfrm>
            <a:off x="645900" y="193200"/>
            <a:ext cx="33846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Session Trend</a:t>
            </a:r>
            <a:endParaRPr b="1" sz="2500">
              <a:solidFill>
                <a:srgbClr val="E69138"/>
              </a:solidFill>
              <a:latin typeface="Poppins"/>
              <a:ea typeface="Poppins"/>
              <a:cs typeface="Poppins"/>
              <a:sym typeface="Poppins"/>
            </a:endParaRPr>
          </a:p>
        </p:txBody>
      </p:sp>
      <p:pic>
        <p:nvPicPr>
          <p:cNvPr id="258" name="Google Shape;258;p27"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59" name="Google Shape;259;p27"/>
          <p:cNvSpPr txBox="1"/>
          <p:nvPr/>
        </p:nvSpPr>
        <p:spPr>
          <a:xfrm>
            <a:off x="5999057" y="1488682"/>
            <a:ext cx="2954100" cy="2856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Traffic sessions meningkat signifikan, terutama di Q4 (2021 dan 2022), artinya Campaign / promo berhasil menarik banyak user (</a:t>
            </a:r>
            <a:r>
              <a:rPr i="1" lang="en" sz="900">
                <a:solidFill>
                  <a:srgbClr val="E69138"/>
                </a:solidFill>
                <a:latin typeface="Poppins"/>
                <a:ea typeface="Poppins"/>
                <a:cs typeface="Poppins"/>
                <a:sym typeface="Poppins"/>
              </a:rPr>
              <a:t>high acquisition</a:t>
            </a:r>
            <a:r>
              <a:rPr lang="en" sz="900">
                <a:solidFill>
                  <a:srgbClr val="E69138"/>
                </a:solidFill>
                <a:latin typeface="Poppins"/>
                <a:ea typeface="Poppins"/>
                <a:cs typeface="Poppins"/>
                <a:sym typeface="Poppins"/>
              </a:rPr>
              <a:t>). Tapi conversion tidak naik sebanding, garis sessions (kuning) naik drastis, tapi completed (hijau) naik sedikit, canceled (merah) juga ikut naik yang berarti Traffic growth tidak diikuti kualitas conversion. </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Kampanye Q4 (2021 dan 2022) mendatangkan low-intent users -&gt; </a:t>
            </a:r>
            <a:r>
              <a:rPr lang="en" sz="900">
                <a:solidFill>
                  <a:srgbClr val="E69138"/>
                </a:solidFill>
                <a:latin typeface="Poppins"/>
                <a:ea typeface="Poppins"/>
                <a:cs typeface="Poppins"/>
                <a:sym typeface="Poppins"/>
              </a:rPr>
              <a:t>pengunjung yang </a:t>
            </a:r>
            <a:r>
              <a:rPr i="1" lang="en" sz="900">
                <a:solidFill>
                  <a:srgbClr val="E69138"/>
                </a:solidFill>
                <a:latin typeface="Poppins"/>
                <a:ea typeface="Poppins"/>
                <a:cs typeface="Poppins"/>
                <a:sym typeface="Poppins"/>
              </a:rPr>
              <a:t>tidak memiliki niat beli</a:t>
            </a:r>
            <a:r>
              <a:rPr lang="en" sz="900">
                <a:solidFill>
                  <a:srgbClr val="E69138"/>
                </a:solidFill>
                <a:latin typeface="Poppins"/>
                <a:ea typeface="Poppins"/>
                <a:cs typeface="Poppins"/>
                <a:sym typeface="Poppins"/>
              </a:rPr>
              <a:t> (hanya masuk, melihat promo, lalu keluar tanpa membeli).</a:t>
            </a:r>
            <a:endParaRPr sz="7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t/>
            </a:r>
            <a:endParaRPr sz="900">
              <a:solidFill>
                <a:srgbClr val="E69138"/>
              </a:solidFill>
              <a:latin typeface="Poppins"/>
              <a:ea typeface="Poppins"/>
              <a:cs typeface="Poppins"/>
              <a:sym typeface="Poppins"/>
            </a:endParaRPr>
          </a:p>
        </p:txBody>
      </p:sp>
      <p:pic>
        <p:nvPicPr>
          <p:cNvPr id="260" name="Google Shape;260;p27"/>
          <p:cNvPicPr preferRelativeResize="0"/>
          <p:nvPr/>
        </p:nvPicPr>
        <p:blipFill>
          <a:blip r:embed="rId4">
            <a:alphaModFix/>
          </a:blip>
          <a:stretch>
            <a:fillRect/>
          </a:stretch>
        </p:blipFill>
        <p:spPr>
          <a:xfrm>
            <a:off x="227675" y="1194050"/>
            <a:ext cx="5684233" cy="3285954"/>
          </a:xfrm>
          <a:prstGeom prst="rect">
            <a:avLst/>
          </a:prstGeom>
          <a:noFill/>
          <a:ln cap="flat" cmpd="sng" w="9525">
            <a:solidFill>
              <a:srgbClr val="E69138"/>
            </a:solidFill>
            <a:prstDash val="solid"/>
            <a:round/>
            <a:headEnd len="sm" w="sm" type="none"/>
            <a:tailEnd len="sm" w="sm" type="none"/>
          </a:ln>
        </p:spPr>
      </p:pic>
      <p:sp>
        <p:nvSpPr>
          <p:cNvPr id="261" name="Google Shape;261;p27"/>
          <p:cNvSpPr/>
          <p:nvPr/>
        </p:nvSpPr>
        <p:spPr>
          <a:xfrm>
            <a:off x="342300" y="4686450"/>
            <a:ext cx="200700" cy="1632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62" name="Google Shape;262;p27"/>
          <p:cNvSpPr txBox="1"/>
          <p:nvPr/>
        </p:nvSpPr>
        <p:spPr>
          <a:xfrm>
            <a:off x="593823" y="4619850"/>
            <a:ext cx="827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Sessions</a:t>
            </a:r>
            <a:endParaRPr/>
          </a:p>
        </p:txBody>
      </p:sp>
      <p:sp>
        <p:nvSpPr>
          <p:cNvPr id="263" name="Google Shape;263;p27"/>
          <p:cNvSpPr/>
          <p:nvPr/>
        </p:nvSpPr>
        <p:spPr>
          <a:xfrm>
            <a:off x="1472050" y="4686450"/>
            <a:ext cx="200700" cy="1632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64" name="Google Shape;264;p27"/>
          <p:cNvSpPr txBox="1"/>
          <p:nvPr/>
        </p:nvSpPr>
        <p:spPr>
          <a:xfrm>
            <a:off x="1698483" y="4619850"/>
            <a:ext cx="827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completed</a:t>
            </a:r>
            <a:endParaRPr/>
          </a:p>
        </p:txBody>
      </p:sp>
      <p:sp>
        <p:nvSpPr>
          <p:cNvPr id="265" name="Google Shape;265;p27"/>
          <p:cNvSpPr/>
          <p:nvPr/>
        </p:nvSpPr>
        <p:spPr>
          <a:xfrm>
            <a:off x="2580505" y="4686450"/>
            <a:ext cx="200700" cy="1632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66" name="Google Shape;266;p27"/>
          <p:cNvSpPr txBox="1"/>
          <p:nvPr/>
        </p:nvSpPr>
        <p:spPr>
          <a:xfrm>
            <a:off x="2781848" y="4619850"/>
            <a:ext cx="827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canceled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0" name="Shape 270"/>
        <p:cNvGrpSpPr/>
        <p:nvPr/>
      </p:nvGrpSpPr>
      <p:grpSpPr>
        <a:xfrm>
          <a:off x="0" y="0"/>
          <a:ext cx="0" cy="0"/>
          <a:chOff x="0" y="0"/>
          <a:chExt cx="0" cy="0"/>
        </a:xfrm>
      </p:grpSpPr>
      <p:sp>
        <p:nvSpPr>
          <p:cNvPr id="271" name="Google Shape;271;p28"/>
          <p:cNvSpPr txBox="1"/>
          <p:nvPr>
            <p:ph type="title"/>
          </p:nvPr>
        </p:nvSpPr>
        <p:spPr>
          <a:xfrm>
            <a:off x="645900" y="1932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Conversion Rate b</a:t>
            </a:r>
            <a:r>
              <a:rPr b="1" lang="en" sz="2500">
                <a:solidFill>
                  <a:srgbClr val="E69138"/>
                </a:solidFill>
                <a:latin typeface="Poppins"/>
                <a:ea typeface="Poppins"/>
                <a:cs typeface="Poppins"/>
                <a:sym typeface="Poppins"/>
              </a:rPr>
              <a:t>y Gender </a:t>
            </a:r>
            <a:endParaRPr b="1" sz="2500">
              <a:solidFill>
                <a:srgbClr val="E69138"/>
              </a:solidFill>
              <a:latin typeface="Poppins"/>
              <a:ea typeface="Poppins"/>
              <a:cs typeface="Poppins"/>
              <a:sym typeface="Poppins"/>
            </a:endParaRPr>
          </a:p>
        </p:txBody>
      </p:sp>
      <p:pic>
        <p:nvPicPr>
          <p:cNvPr id="272" name="Google Shape;272;p28"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73" name="Google Shape;273;p28"/>
          <p:cNvSpPr txBox="1"/>
          <p:nvPr/>
        </p:nvSpPr>
        <p:spPr>
          <a:xfrm>
            <a:off x="5658200" y="1417225"/>
            <a:ext cx="3343200" cy="2532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Completion rate:</a:t>
            </a:r>
            <a:endParaRPr b="1" sz="900">
              <a:solidFill>
                <a:srgbClr val="E69138"/>
              </a:solidFill>
              <a:latin typeface="Poppins"/>
              <a:ea typeface="Poppins"/>
              <a:cs typeface="Poppins"/>
              <a:sym typeface="Poppins"/>
            </a:endParaRPr>
          </a:p>
          <a:p>
            <a:pPr indent="-285750" lvl="0" marL="457200" rtl="0" algn="just">
              <a:lnSpc>
                <a:spcPct val="115000"/>
              </a:lnSpc>
              <a:spcBef>
                <a:spcPts val="1200"/>
              </a:spcBef>
              <a:spcAft>
                <a:spcPts val="0"/>
              </a:spcAft>
              <a:buClr>
                <a:srgbClr val="E69138"/>
              </a:buClr>
              <a:buSzPts val="900"/>
              <a:buFont typeface="Poppins"/>
              <a:buChar char="●"/>
            </a:pPr>
            <a:r>
              <a:rPr lang="en" sz="900">
                <a:solidFill>
                  <a:srgbClr val="E69138"/>
                </a:solidFill>
                <a:latin typeface="Poppins"/>
                <a:ea typeface="Poppins"/>
                <a:cs typeface="Poppins"/>
                <a:sym typeface="Poppins"/>
              </a:rPr>
              <a:t>Female: 65.76% (lebih tinggi)</a:t>
            </a:r>
            <a:endParaRPr sz="900">
              <a:solidFill>
                <a:srgbClr val="E69138"/>
              </a:solidFill>
              <a:latin typeface="Poppins"/>
              <a:ea typeface="Poppins"/>
              <a:cs typeface="Poppins"/>
              <a:sym typeface="Poppins"/>
            </a:endParaRPr>
          </a:p>
          <a:p>
            <a:pPr indent="-285750" lvl="0" marL="457200" rtl="0" algn="just">
              <a:lnSpc>
                <a:spcPct val="115000"/>
              </a:lnSpc>
              <a:spcBef>
                <a:spcPts val="0"/>
              </a:spcBef>
              <a:spcAft>
                <a:spcPts val="0"/>
              </a:spcAft>
              <a:buClr>
                <a:srgbClr val="E69138"/>
              </a:buClr>
              <a:buSzPts val="900"/>
              <a:buFont typeface="Poppins"/>
              <a:buChar char="●"/>
            </a:pPr>
            <a:r>
              <a:rPr lang="en" sz="900">
                <a:solidFill>
                  <a:srgbClr val="E69138"/>
                </a:solidFill>
                <a:latin typeface="Poppins"/>
                <a:ea typeface="Poppins"/>
                <a:cs typeface="Poppins"/>
                <a:sym typeface="Poppins"/>
              </a:rPr>
              <a:t>Male: 62.49% </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Cancelation rate:</a:t>
            </a:r>
            <a:endParaRPr b="1" sz="900">
              <a:solidFill>
                <a:srgbClr val="E69138"/>
              </a:solidFill>
              <a:latin typeface="Poppins"/>
              <a:ea typeface="Poppins"/>
              <a:cs typeface="Poppins"/>
              <a:sym typeface="Poppins"/>
            </a:endParaRPr>
          </a:p>
          <a:p>
            <a:pPr indent="-285750" lvl="0" marL="457200" rtl="0" algn="just">
              <a:lnSpc>
                <a:spcPct val="115000"/>
              </a:lnSpc>
              <a:spcBef>
                <a:spcPts val="1200"/>
              </a:spcBef>
              <a:spcAft>
                <a:spcPts val="0"/>
              </a:spcAft>
              <a:buClr>
                <a:srgbClr val="E69138"/>
              </a:buClr>
              <a:buSzPts val="900"/>
              <a:buFont typeface="Poppins"/>
              <a:buChar char="●"/>
            </a:pPr>
            <a:r>
              <a:rPr lang="en" sz="900">
                <a:solidFill>
                  <a:srgbClr val="E69138"/>
                </a:solidFill>
                <a:latin typeface="Poppins"/>
                <a:ea typeface="Poppins"/>
                <a:cs typeface="Poppins"/>
                <a:sym typeface="Poppins"/>
              </a:rPr>
              <a:t>Female: 34.24%</a:t>
            </a:r>
            <a:endParaRPr sz="900">
              <a:solidFill>
                <a:srgbClr val="E69138"/>
              </a:solidFill>
              <a:latin typeface="Poppins"/>
              <a:ea typeface="Poppins"/>
              <a:cs typeface="Poppins"/>
              <a:sym typeface="Poppins"/>
            </a:endParaRPr>
          </a:p>
          <a:p>
            <a:pPr indent="-285750" lvl="0" marL="457200" rtl="0" algn="just">
              <a:lnSpc>
                <a:spcPct val="115000"/>
              </a:lnSpc>
              <a:spcBef>
                <a:spcPts val="0"/>
              </a:spcBef>
              <a:spcAft>
                <a:spcPts val="0"/>
              </a:spcAft>
              <a:buClr>
                <a:srgbClr val="E69138"/>
              </a:buClr>
              <a:buSzPts val="900"/>
              <a:buFont typeface="Poppins"/>
              <a:buChar char="●"/>
            </a:pPr>
            <a:r>
              <a:rPr lang="en" sz="900">
                <a:solidFill>
                  <a:srgbClr val="E69138"/>
                </a:solidFill>
                <a:latin typeface="Poppins"/>
                <a:ea typeface="Poppins"/>
                <a:cs typeface="Poppins"/>
                <a:sym typeface="Poppins"/>
              </a:rPr>
              <a:t>Male: 37.51% (lebih tinggi)</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Female memiliki conversion lebih tinggi,</a:t>
            </a:r>
            <a:r>
              <a:rPr lang="en" sz="900">
                <a:solidFill>
                  <a:srgbClr val="E69138"/>
                </a:solidFill>
                <a:latin typeface="Poppins"/>
                <a:ea typeface="Poppins"/>
                <a:cs typeface="Poppins"/>
                <a:sym typeface="Poppins"/>
              </a:rPr>
              <a:t> artinya Female users menunjukkan perilaku yang lebih stabil dalam menyelesaikan transaksi, sementara male users cenderung memiliki tingkat pembatalan yang lebih tinggi, khususnya pada tahap akhir funnel.</a:t>
            </a:r>
            <a:endParaRPr sz="900">
              <a:solidFill>
                <a:srgbClr val="E69138"/>
              </a:solidFill>
              <a:latin typeface="Poppins"/>
              <a:ea typeface="Poppins"/>
              <a:cs typeface="Poppins"/>
              <a:sym typeface="Poppins"/>
            </a:endParaRPr>
          </a:p>
        </p:txBody>
      </p:sp>
      <p:pic>
        <p:nvPicPr>
          <p:cNvPr id="274" name="Google Shape;274;p28"/>
          <p:cNvPicPr preferRelativeResize="0"/>
          <p:nvPr/>
        </p:nvPicPr>
        <p:blipFill>
          <a:blip r:embed="rId4">
            <a:alphaModFix/>
          </a:blip>
          <a:stretch>
            <a:fillRect/>
          </a:stretch>
        </p:blipFill>
        <p:spPr>
          <a:xfrm>
            <a:off x="215125" y="1206600"/>
            <a:ext cx="5353401" cy="3009746"/>
          </a:xfrm>
          <a:prstGeom prst="rect">
            <a:avLst/>
          </a:prstGeom>
          <a:noFill/>
          <a:ln cap="flat" cmpd="sng" w="9525">
            <a:solidFill>
              <a:srgbClr val="E69138"/>
            </a:solidFill>
            <a:prstDash val="solid"/>
            <a:round/>
            <a:headEnd len="sm" w="sm" type="none"/>
            <a:tailEnd len="sm" w="sm" type="none"/>
          </a:ln>
        </p:spPr>
      </p:pic>
      <p:sp>
        <p:nvSpPr>
          <p:cNvPr id="275" name="Google Shape;275;p28"/>
          <p:cNvSpPr/>
          <p:nvPr/>
        </p:nvSpPr>
        <p:spPr>
          <a:xfrm>
            <a:off x="328031" y="4372825"/>
            <a:ext cx="200700" cy="1632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76" name="Google Shape;276;p28"/>
          <p:cNvSpPr txBox="1"/>
          <p:nvPr/>
        </p:nvSpPr>
        <p:spPr>
          <a:xfrm>
            <a:off x="554456" y="4306225"/>
            <a:ext cx="1205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Completion Rate</a:t>
            </a:r>
            <a:endParaRPr/>
          </a:p>
        </p:txBody>
      </p:sp>
      <p:sp>
        <p:nvSpPr>
          <p:cNvPr id="277" name="Google Shape;277;p28"/>
          <p:cNvSpPr/>
          <p:nvPr/>
        </p:nvSpPr>
        <p:spPr>
          <a:xfrm>
            <a:off x="1837931" y="4372825"/>
            <a:ext cx="200700" cy="163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78" name="Google Shape;278;p28"/>
          <p:cNvSpPr txBox="1"/>
          <p:nvPr/>
        </p:nvSpPr>
        <p:spPr>
          <a:xfrm>
            <a:off x="2039276" y="4306225"/>
            <a:ext cx="1205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Cancelation Rate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sp>
        <p:nvSpPr>
          <p:cNvPr id="283" name="Google Shape;283;p29"/>
          <p:cNvSpPr txBox="1"/>
          <p:nvPr>
            <p:ph type="title"/>
          </p:nvPr>
        </p:nvSpPr>
        <p:spPr>
          <a:xfrm>
            <a:off x="645900" y="1932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Conversion Rate </a:t>
            </a:r>
            <a:r>
              <a:rPr b="1" lang="en" sz="2500">
                <a:solidFill>
                  <a:srgbClr val="E69138"/>
                </a:solidFill>
                <a:latin typeface="Poppins"/>
                <a:ea typeface="Poppins"/>
                <a:cs typeface="Poppins"/>
                <a:sym typeface="Poppins"/>
              </a:rPr>
              <a:t>by Age Group</a:t>
            </a:r>
            <a:endParaRPr b="1" sz="2500">
              <a:solidFill>
                <a:srgbClr val="E69138"/>
              </a:solidFill>
              <a:latin typeface="Poppins"/>
              <a:ea typeface="Poppins"/>
              <a:cs typeface="Poppins"/>
              <a:sym typeface="Poppins"/>
            </a:endParaRPr>
          </a:p>
        </p:txBody>
      </p:sp>
      <p:pic>
        <p:nvPicPr>
          <p:cNvPr id="284" name="Google Shape;284;p29"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85" name="Google Shape;285;p29"/>
          <p:cNvSpPr txBox="1"/>
          <p:nvPr/>
        </p:nvSpPr>
        <p:spPr>
          <a:xfrm>
            <a:off x="5658200" y="1417225"/>
            <a:ext cx="3343200" cy="3894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Dari plot menunjukkan </a:t>
            </a:r>
            <a:r>
              <a:rPr b="1" lang="en" sz="900">
                <a:solidFill>
                  <a:srgbClr val="E69138"/>
                </a:solidFill>
                <a:latin typeface="Poppins"/>
                <a:ea typeface="Poppins"/>
                <a:cs typeface="Poppins"/>
                <a:sym typeface="Poppins"/>
              </a:rPr>
              <a:t>usia user yang lebih muda memiliki cancelation rate yang lebih rendah, namun juga nilai transaksi yang rendah pula</a:t>
            </a:r>
            <a:r>
              <a:rPr lang="en" sz="900">
                <a:solidFill>
                  <a:srgbClr val="E69138"/>
                </a:solidFill>
                <a:latin typeface="Poppins"/>
                <a:ea typeface="Poppins"/>
                <a:cs typeface="Poppins"/>
                <a:sym typeface="Poppins"/>
              </a:rPr>
              <a:t>, Begitu juga sebaliknya, semakin naik usia, cancelation rate meningkat namun nilai transaksi juga meningkat. Bisa disimpulkan bahwa</a:t>
            </a:r>
            <a:endParaRPr sz="900">
              <a:solidFill>
                <a:srgbClr val="E69138"/>
              </a:solidFill>
              <a:latin typeface="Poppins"/>
              <a:ea typeface="Poppins"/>
              <a:cs typeface="Poppins"/>
              <a:sym typeface="Poppins"/>
            </a:endParaRPr>
          </a:p>
          <a:p>
            <a:pPr indent="0" lvl="0" marL="0" rtl="0" algn="l">
              <a:lnSpc>
                <a:spcPct val="115000"/>
              </a:lnSpc>
              <a:spcBef>
                <a:spcPts val="1200"/>
              </a:spcBef>
              <a:spcAft>
                <a:spcPts val="0"/>
              </a:spcAft>
              <a:buNone/>
            </a:pPr>
            <a:r>
              <a:rPr b="1" i="1" lang="en" sz="900">
                <a:solidFill>
                  <a:srgbClr val="E69138"/>
                </a:solidFill>
                <a:latin typeface="Poppins"/>
                <a:ea typeface="Poppins"/>
                <a:cs typeface="Poppins"/>
                <a:sym typeface="Poppins"/>
              </a:rPr>
              <a:t>Trade-off antara conversion vs value</a:t>
            </a:r>
            <a:endParaRPr b="1" i="1" sz="900">
              <a:solidFill>
                <a:srgbClr val="E69138"/>
              </a:solidFill>
              <a:latin typeface="Poppins"/>
              <a:ea typeface="Poppins"/>
              <a:cs typeface="Poppins"/>
              <a:sym typeface="Poppins"/>
            </a:endParaRPr>
          </a:p>
          <a:p>
            <a:pPr indent="-298450" lvl="0" marL="457200" rtl="0" algn="l">
              <a:lnSpc>
                <a:spcPct val="115000"/>
              </a:lnSpc>
              <a:spcBef>
                <a:spcPts val="1200"/>
              </a:spcBef>
              <a:spcAft>
                <a:spcPts val="0"/>
              </a:spcAft>
              <a:buClr>
                <a:srgbClr val="E69138"/>
              </a:buClr>
              <a:buSzPts val="1100"/>
              <a:buChar char="●"/>
            </a:pPr>
            <a:r>
              <a:rPr lang="en" sz="900">
                <a:solidFill>
                  <a:srgbClr val="E69138"/>
                </a:solidFill>
                <a:latin typeface="Poppins"/>
                <a:ea typeface="Poppins"/>
                <a:cs typeface="Poppins"/>
                <a:sym typeface="Poppins"/>
              </a:rPr>
              <a:t>(&lt; 25) Gen Z:</a:t>
            </a:r>
            <a:endParaRPr sz="900">
              <a:solidFill>
                <a:srgbClr val="E69138"/>
              </a:solidFill>
              <a:latin typeface="Poppins"/>
              <a:ea typeface="Poppins"/>
              <a:cs typeface="Poppins"/>
              <a:sym typeface="Poppins"/>
            </a:endParaRPr>
          </a:p>
          <a:p>
            <a:pPr indent="-298450" lvl="1" marL="9144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cepat decision</a:t>
            </a:r>
            <a:endParaRPr sz="900">
              <a:solidFill>
                <a:srgbClr val="E69138"/>
              </a:solidFill>
              <a:latin typeface="Poppins"/>
              <a:ea typeface="Poppins"/>
              <a:cs typeface="Poppins"/>
              <a:sym typeface="Poppins"/>
            </a:endParaRPr>
          </a:p>
          <a:p>
            <a:pPr indent="-298450" lvl="1" marL="9144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smooth checkout</a:t>
            </a:r>
            <a:endParaRPr sz="900">
              <a:solidFill>
                <a:srgbClr val="E69138"/>
              </a:solidFill>
              <a:latin typeface="Poppins"/>
              <a:ea typeface="Poppins"/>
              <a:cs typeface="Poppins"/>
              <a:sym typeface="Poppins"/>
            </a:endParaRPr>
          </a:p>
          <a:p>
            <a:pPr indent="-298450" lvl="1" marL="9144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low hesitation</a:t>
            </a:r>
            <a:endParaRPr sz="900">
              <a:solidFill>
                <a:srgbClr val="E69138"/>
              </a:solidFill>
              <a:latin typeface="Poppins"/>
              <a:ea typeface="Poppins"/>
              <a:cs typeface="Poppins"/>
              <a:sym typeface="Poppins"/>
            </a:endParaRPr>
          </a:p>
          <a:p>
            <a:pPr indent="-298450" lvl="0" marL="4572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(55+) Senior:</a:t>
            </a:r>
            <a:endParaRPr sz="900">
              <a:solidFill>
                <a:srgbClr val="E69138"/>
              </a:solidFill>
              <a:latin typeface="Poppins"/>
              <a:ea typeface="Poppins"/>
              <a:cs typeface="Poppins"/>
              <a:sym typeface="Poppins"/>
            </a:endParaRPr>
          </a:p>
          <a:p>
            <a:pPr indent="-298450" lvl="1" marL="9144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lebih high value</a:t>
            </a:r>
            <a:endParaRPr sz="900">
              <a:solidFill>
                <a:srgbClr val="E69138"/>
              </a:solidFill>
              <a:latin typeface="Poppins"/>
              <a:ea typeface="Poppins"/>
              <a:cs typeface="Poppins"/>
              <a:sym typeface="Poppins"/>
            </a:endParaRPr>
          </a:p>
          <a:p>
            <a:pPr indent="-298450" lvl="1" marL="9144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tapi lebih banyak drop di akhir </a:t>
            </a:r>
            <a:endParaRPr sz="900">
              <a:solidFill>
                <a:srgbClr val="E69138"/>
              </a:solidFill>
              <a:latin typeface="Poppins"/>
              <a:ea typeface="Poppins"/>
              <a:cs typeface="Poppins"/>
              <a:sym typeface="Poppins"/>
            </a:endParaRPr>
          </a:p>
          <a:p>
            <a:pPr indent="0" lvl="0" marL="0" rtl="0" algn="l">
              <a:lnSpc>
                <a:spcPct val="115000"/>
              </a:lnSpc>
              <a:spcBef>
                <a:spcPts val="1200"/>
              </a:spcBef>
              <a:spcAft>
                <a:spcPts val="0"/>
              </a:spcAft>
              <a:buNone/>
            </a:pPr>
            <a:r>
              <a:rPr b="1" lang="en" sz="900">
                <a:solidFill>
                  <a:srgbClr val="E69138"/>
                </a:solidFill>
                <a:latin typeface="Poppins"/>
                <a:ea typeface="Poppins"/>
                <a:cs typeface="Poppins"/>
                <a:sym typeface="Poppins"/>
              </a:rPr>
              <a:t>Trade-off: </a:t>
            </a:r>
            <a:r>
              <a:rPr lang="en" sz="900">
                <a:solidFill>
                  <a:srgbClr val="E69138"/>
                </a:solidFill>
                <a:latin typeface="Poppins"/>
                <a:ea typeface="Poppins"/>
                <a:cs typeface="Poppins"/>
                <a:sym typeface="Poppins"/>
              </a:rPr>
              <a:t>Gen Z mudah dikonversi tapi AOV rendah. Senior sulit dikonversi tetapi dampak revenue besar jika berhasil.</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t/>
            </a:r>
            <a:endParaRPr sz="900">
              <a:solidFill>
                <a:srgbClr val="E69138"/>
              </a:solidFill>
              <a:latin typeface="Poppins"/>
              <a:ea typeface="Poppins"/>
              <a:cs typeface="Poppins"/>
              <a:sym typeface="Poppins"/>
            </a:endParaRPr>
          </a:p>
        </p:txBody>
      </p:sp>
      <p:pic>
        <p:nvPicPr>
          <p:cNvPr id="286" name="Google Shape;286;p29"/>
          <p:cNvPicPr preferRelativeResize="0"/>
          <p:nvPr/>
        </p:nvPicPr>
        <p:blipFill>
          <a:blip r:embed="rId4">
            <a:alphaModFix/>
          </a:blip>
          <a:stretch>
            <a:fillRect/>
          </a:stretch>
        </p:blipFill>
        <p:spPr>
          <a:xfrm>
            <a:off x="304800" y="1306975"/>
            <a:ext cx="5353401" cy="3061890"/>
          </a:xfrm>
          <a:prstGeom prst="rect">
            <a:avLst/>
          </a:prstGeom>
          <a:noFill/>
          <a:ln cap="flat" cmpd="sng" w="9525">
            <a:solidFill>
              <a:srgbClr val="E69138"/>
            </a:solidFill>
            <a:prstDash val="solid"/>
            <a:round/>
            <a:headEnd len="sm" w="sm" type="none"/>
            <a:tailEnd len="sm" w="sm" type="none"/>
          </a:ln>
        </p:spPr>
      </p:pic>
      <p:sp>
        <p:nvSpPr>
          <p:cNvPr id="287" name="Google Shape;287;p29"/>
          <p:cNvSpPr/>
          <p:nvPr/>
        </p:nvSpPr>
        <p:spPr>
          <a:xfrm>
            <a:off x="328031" y="4510821"/>
            <a:ext cx="200700" cy="1632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88" name="Google Shape;288;p29"/>
          <p:cNvSpPr txBox="1"/>
          <p:nvPr/>
        </p:nvSpPr>
        <p:spPr>
          <a:xfrm>
            <a:off x="554456" y="4444221"/>
            <a:ext cx="1205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Completion Rate</a:t>
            </a:r>
            <a:endParaRPr/>
          </a:p>
        </p:txBody>
      </p:sp>
      <p:sp>
        <p:nvSpPr>
          <p:cNvPr id="289" name="Google Shape;289;p29"/>
          <p:cNvSpPr/>
          <p:nvPr/>
        </p:nvSpPr>
        <p:spPr>
          <a:xfrm>
            <a:off x="1837931" y="4510821"/>
            <a:ext cx="200700" cy="1632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290" name="Google Shape;290;p29"/>
          <p:cNvSpPr txBox="1"/>
          <p:nvPr/>
        </p:nvSpPr>
        <p:spPr>
          <a:xfrm>
            <a:off x="2039276" y="4444221"/>
            <a:ext cx="1205400" cy="323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Cancelation Rate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4" name="Shape 294"/>
        <p:cNvGrpSpPr/>
        <p:nvPr/>
      </p:nvGrpSpPr>
      <p:grpSpPr>
        <a:xfrm>
          <a:off x="0" y="0"/>
          <a:ext cx="0" cy="0"/>
          <a:chOff x="0" y="0"/>
          <a:chExt cx="0" cy="0"/>
        </a:xfrm>
      </p:grpSpPr>
      <p:sp>
        <p:nvSpPr>
          <p:cNvPr id="295" name="Google Shape;295;p30"/>
          <p:cNvSpPr txBox="1"/>
          <p:nvPr>
            <p:ph type="title"/>
          </p:nvPr>
        </p:nvSpPr>
        <p:spPr>
          <a:xfrm>
            <a:off x="645900" y="1932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Co</a:t>
            </a:r>
            <a:r>
              <a:rPr b="1" lang="en" sz="2500">
                <a:solidFill>
                  <a:srgbClr val="E69138"/>
                </a:solidFill>
                <a:latin typeface="Poppins"/>
                <a:ea typeface="Poppins"/>
                <a:cs typeface="Poppins"/>
                <a:sym typeface="Poppins"/>
              </a:rPr>
              <a:t>nversion Rate </a:t>
            </a:r>
            <a:r>
              <a:rPr b="1" lang="en" sz="2500">
                <a:solidFill>
                  <a:srgbClr val="E69138"/>
                </a:solidFill>
                <a:latin typeface="Poppins"/>
                <a:ea typeface="Poppins"/>
                <a:cs typeface="Poppins"/>
                <a:sym typeface="Poppins"/>
              </a:rPr>
              <a:t>by Location</a:t>
            </a:r>
            <a:endParaRPr b="1" sz="2500">
              <a:solidFill>
                <a:srgbClr val="E69138"/>
              </a:solidFill>
              <a:latin typeface="Poppins"/>
              <a:ea typeface="Poppins"/>
              <a:cs typeface="Poppins"/>
              <a:sym typeface="Poppins"/>
            </a:endParaRPr>
          </a:p>
        </p:txBody>
      </p:sp>
      <p:pic>
        <p:nvPicPr>
          <p:cNvPr id="296" name="Google Shape;296;p30"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297" name="Google Shape;297;p30"/>
          <p:cNvSpPr txBox="1"/>
          <p:nvPr/>
        </p:nvSpPr>
        <p:spPr>
          <a:xfrm>
            <a:off x="5658200" y="1417225"/>
            <a:ext cx="3343200" cy="3192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Conversion rate di Jakarta secara konsisten lebih rendah dibanding kota lain</a:t>
            </a:r>
            <a:r>
              <a:rPr lang="en" sz="900">
                <a:solidFill>
                  <a:srgbClr val="E69138"/>
                </a:solidFill>
                <a:latin typeface="Poppins"/>
                <a:ea typeface="Poppins"/>
                <a:cs typeface="Poppins"/>
                <a:sym typeface="Poppins"/>
              </a:rPr>
              <a:t>, menunjukkan adanya bottleneck pada tahap checkout yang kemungkinan disebabkan oleh faktor operasional seperti biaya pengiriman, kompleksitas logistik, atau pengalaman pengguna yang kurang optimal.</a:t>
            </a:r>
            <a:endParaRPr sz="900">
              <a:solidFill>
                <a:srgbClr val="E69138"/>
              </a:solidFill>
              <a:latin typeface="Poppins"/>
              <a:ea typeface="Poppins"/>
              <a:cs typeface="Poppins"/>
              <a:sym typeface="Poppins"/>
            </a:endParaRPr>
          </a:p>
          <a:p>
            <a:pPr indent="0" lvl="0" marL="0" rtl="0" algn="l">
              <a:lnSpc>
                <a:spcPct val="115000"/>
              </a:lnSpc>
              <a:spcBef>
                <a:spcPts val="1200"/>
              </a:spcBef>
              <a:spcAft>
                <a:spcPts val="0"/>
              </a:spcAft>
              <a:buNone/>
            </a:pPr>
            <a:r>
              <a:rPr lang="en" sz="900">
                <a:solidFill>
                  <a:srgbClr val="E69138"/>
                </a:solidFill>
                <a:latin typeface="Poppins"/>
                <a:ea typeface="Poppins"/>
                <a:cs typeface="Poppins"/>
                <a:sym typeface="Poppins"/>
              </a:rPr>
              <a:t>Kemungkinan penyebab:</a:t>
            </a:r>
            <a:endParaRPr sz="900">
              <a:solidFill>
                <a:srgbClr val="E69138"/>
              </a:solidFill>
              <a:latin typeface="Poppins"/>
              <a:ea typeface="Poppins"/>
              <a:cs typeface="Poppins"/>
              <a:sym typeface="Poppins"/>
            </a:endParaRPr>
          </a:p>
          <a:p>
            <a:pPr indent="-298450" lvl="0" marL="457200" rtl="0" algn="l">
              <a:lnSpc>
                <a:spcPct val="115000"/>
              </a:lnSpc>
              <a:spcBef>
                <a:spcPts val="1200"/>
              </a:spcBef>
              <a:spcAft>
                <a:spcPts val="0"/>
              </a:spcAft>
              <a:buClr>
                <a:srgbClr val="E69138"/>
              </a:buClr>
              <a:buSzPts val="1100"/>
              <a:buChar char="●"/>
            </a:pPr>
            <a:r>
              <a:rPr lang="en" sz="900">
                <a:solidFill>
                  <a:srgbClr val="E69138"/>
                </a:solidFill>
                <a:latin typeface="Poppins"/>
                <a:ea typeface="Poppins"/>
                <a:cs typeface="Poppins"/>
                <a:sym typeface="Poppins"/>
              </a:rPr>
              <a:t>ongkir mahal / tidak transparan</a:t>
            </a:r>
            <a:endParaRPr sz="900">
              <a:solidFill>
                <a:srgbClr val="E69138"/>
              </a:solidFill>
              <a:latin typeface="Poppins"/>
              <a:ea typeface="Poppins"/>
              <a:cs typeface="Poppins"/>
              <a:sym typeface="Poppins"/>
            </a:endParaRPr>
          </a:p>
          <a:p>
            <a:pPr indent="-298450" lvl="0" marL="4572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delivery complex (area padat)</a:t>
            </a:r>
            <a:endParaRPr sz="900">
              <a:solidFill>
                <a:srgbClr val="E69138"/>
              </a:solidFill>
              <a:latin typeface="Poppins"/>
              <a:ea typeface="Poppins"/>
              <a:cs typeface="Poppins"/>
              <a:sym typeface="Poppins"/>
            </a:endParaRPr>
          </a:p>
          <a:p>
            <a:pPr indent="-298450" lvl="0" marL="4572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waktu pengiriman lama / tidak pasti</a:t>
            </a:r>
            <a:endParaRPr sz="900">
              <a:solidFill>
                <a:srgbClr val="E69138"/>
              </a:solidFill>
              <a:latin typeface="Poppins"/>
              <a:ea typeface="Poppins"/>
              <a:cs typeface="Poppins"/>
              <a:sym typeface="Poppins"/>
            </a:endParaRPr>
          </a:p>
          <a:p>
            <a:pPr indent="-298450" lvl="0" marL="4572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banyak opsi → decision fatigue</a:t>
            </a:r>
            <a:endParaRPr sz="900">
              <a:solidFill>
                <a:srgbClr val="E69138"/>
              </a:solidFill>
              <a:latin typeface="Poppins"/>
              <a:ea typeface="Poppins"/>
              <a:cs typeface="Poppins"/>
              <a:sym typeface="Poppins"/>
            </a:endParaRPr>
          </a:p>
          <a:p>
            <a:pPr indent="-298450" lvl="0" marL="457200" rtl="0" algn="l">
              <a:lnSpc>
                <a:spcPct val="115000"/>
              </a:lnSpc>
              <a:spcBef>
                <a:spcPts val="0"/>
              </a:spcBef>
              <a:spcAft>
                <a:spcPts val="0"/>
              </a:spcAft>
              <a:buClr>
                <a:srgbClr val="E69138"/>
              </a:buClr>
              <a:buSzPts val="1100"/>
              <a:buChar char="●"/>
            </a:pPr>
            <a:r>
              <a:rPr lang="en" sz="900">
                <a:solidFill>
                  <a:srgbClr val="E69138"/>
                </a:solidFill>
                <a:latin typeface="Poppins"/>
                <a:ea typeface="Poppins"/>
                <a:cs typeface="Poppins"/>
                <a:sym typeface="Poppins"/>
              </a:rPr>
              <a:t>trust issue (terutama pembayaran) </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lang="en" sz="900">
                <a:solidFill>
                  <a:srgbClr val="E69138"/>
                </a:solidFill>
                <a:latin typeface="Poppins"/>
                <a:ea typeface="Poppins"/>
                <a:cs typeface="Poppins"/>
                <a:sym typeface="Poppins"/>
              </a:rPr>
              <a:t>Conversion rate tertinggi (Kota Bogor: 72.0%) dan terendah (Jakarta Selatan: 57.7%). User terbanyak ada di Jakarta Selatan (1,061 user)</a:t>
            </a:r>
            <a:endParaRPr sz="900">
              <a:solidFill>
                <a:srgbClr val="E69138"/>
              </a:solidFill>
              <a:latin typeface="Poppins"/>
              <a:ea typeface="Poppins"/>
              <a:cs typeface="Poppins"/>
              <a:sym typeface="Poppins"/>
            </a:endParaRPr>
          </a:p>
        </p:txBody>
      </p:sp>
      <p:pic>
        <p:nvPicPr>
          <p:cNvPr id="298" name="Google Shape;298;p30"/>
          <p:cNvPicPr preferRelativeResize="0"/>
          <p:nvPr/>
        </p:nvPicPr>
        <p:blipFill>
          <a:blip r:embed="rId4">
            <a:alphaModFix/>
          </a:blip>
          <a:stretch>
            <a:fillRect/>
          </a:stretch>
        </p:blipFill>
        <p:spPr>
          <a:xfrm>
            <a:off x="304800" y="1309163"/>
            <a:ext cx="5353400" cy="3089816"/>
          </a:xfrm>
          <a:prstGeom prst="rect">
            <a:avLst/>
          </a:prstGeom>
          <a:noFill/>
          <a:ln cap="flat" cmpd="sng" w="9525">
            <a:solidFill>
              <a:srgbClr val="E69138"/>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2" name="Shape 302"/>
        <p:cNvGrpSpPr/>
        <p:nvPr/>
      </p:nvGrpSpPr>
      <p:grpSpPr>
        <a:xfrm>
          <a:off x="0" y="0"/>
          <a:ext cx="0" cy="0"/>
          <a:chOff x="0" y="0"/>
          <a:chExt cx="0" cy="0"/>
        </a:xfrm>
      </p:grpSpPr>
      <p:sp>
        <p:nvSpPr>
          <p:cNvPr id="303" name="Google Shape;303;p31"/>
          <p:cNvSpPr txBox="1"/>
          <p:nvPr>
            <p:ph type="title"/>
          </p:nvPr>
        </p:nvSpPr>
        <p:spPr>
          <a:xfrm>
            <a:off x="645900" y="1932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Conversion by Traffic Source</a:t>
            </a:r>
            <a:endParaRPr b="1" sz="2500">
              <a:solidFill>
                <a:srgbClr val="E69138"/>
              </a:solidFill>
              <a:latin typeface="Poppins"/>
              <a:ea typeface="Poppins"/>
              <a:cs typeface="Poppins"/>
              <a:sym typeface="Poppins"/>
            </a:endParaRPr>
          </a:p>
        </p:txBody>
      </p:sp>
      <p:pic>
        <p:nvPicPr>
          <p:cNvPr id="304" name="Google Shape;304;p31"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05" name="Google Shape;305;p31"/>
          <p:cNvSpPr txBox="1"/>
          <p:nvPr/>
        </p:nvSpPr>
        <p:spPr>
          <a:xfrm>
            <a:off x="5683775" y="936525"/>
            <a:ext cx="3343200" cy="3965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Facebook (50,069 sesi) dan Google (41,319 sesi) adalah Mesin Utama (Top of Funnel):</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Lebih dari 91.000 sesi (gabungan Facebook 50k+ dan Google 41k+) disumbangkan oleh kedua platform ini. Ini mengonfirmasi bahwa strategi paid ads atau SEO perusahaan sangat agresif dan efektif dalam mendatangkan traffic mentah.</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Peran Kuat Pengguna Setia (Direct Traffic):</a:t>
            </a:r>
            <a:endParaRPr b="1"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Traffic langsung (Direct) menduduki peringkat ketiga (24.258). Ini adalah metrik kesehatan brand yang baik. Orang-orang sudah mengingat nama toko E-commerceU dan langsung mencari website / mengetik URL-nya tanpa perlu </a:t>
            </a:r>
            <a:r>
              <a:rPr lang="en" sz="900">
                <a:solidFill>
                  <a:srgbClr val="E69138"/>
                </a:solidFill>
                <a:latin typeface="Poppins"/>
                <a:ea typeface="Poppins"/>
                <a:cs typeface="Poppins"/>
                <a:sym typeface="Poppins"/>
              </a:rPr>
              <a:t>di klik</a:t>
            </a:r>
            <a:r>
              <a:rPr lang="en" sz="900">
                <a:solidFill>
                  <a:srgbClr val="E69138"/>
                </a:solidFill>
                <a:latin typeface="Poppins"/>
                <a:ea typeface="Poppins"/>
                <a:cs typeface="Poppins"/>
                <a:sym typeface="Poppins"/>
              </a:rPr>
              <a:t> dari iklan.</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lang="en" sz="900">
                <a:solidFill>
                  <a:srgbClr val="E69138"/>
                </a:solidFill>
                <a:latin typeface="Poppins"/>
                <a:ea typeface="Poppins"/>
                <a:cs typeface="Poppins"/>
                <a:sym typeface="Poppins"/>
              </a:rPr>
              <a:t>Dapat disimpulkan meskipun Facebook dan Google menjadi sumber traffic terbesar, channel dengan intent tinggi seperti direct dan newsletter justru menghasilkan conversion yang lebih baik, menunjukkan bahwa kualitas traffic lebih penting dibandingkan kuantitas dalam meningkatkan performa funnel. </a:t>
            </a:r>
            <a:endParaRPr sz="900">
              <a:solidFill>
                <a:srgbClr val="E69138"/>
              </a:solidFill>
              <a:latin typeface="Poppins"/>
              <a:ea typeface="Poppins"/>
              <a:cs typeface="Poppins"/>
              <a:sym typeface="Poppins"/>
            </a:endParaRPr>
          </a:p>
        </p:txBody>
      </p:sp>
      <p:pic>
        <p:nvPicPr>
          <p:cNvPr id="306" name="Google Shape;306;p31"/>
          <p:cNvPicPr preferRelativeResize="0"/>
          <p:nvPr/>
        </p:nvPicPr>
        <p:blipFill>
          <a:blip r:embed="rId4">
            <a:alphaModFix/>
          </a:blip>
          <a:stretch>
            <a:fillRect/>
          </a:stretch>
        </p:blipFill>
        <p:spPr>
          <a:xfrm>
            <a:off x="129025" y="1550175"/>
            <a:ext cx="5554752" cy="2397300"/>
          </a:xfrm>
          <a:prstGeom prst="rect">
            <a:avLst/>
          </a:prstGeom>
          <a:noFill/>
          <a:ln cap="flat" cmpd="sng" w="9525">
            <a:solidFill>
              <a:srgbClr val="E69138"/>
            </a:solidFill>
            <a:prstDash val="solid"/>
            <a:round/>
            <a:headEnd len="sm" w="sm" type="none"/>
            <a:tailEnd len="sm" w="sm" type="none"/>
          </a:ln>
        </p:spPr>
      </p:pic>
      <p:sp>
        <p:nvSpPr>
          <p:cNvPr id="307" name="Google Shape;307;p31"/>
          <p:cNvSpPr txBox="1"/>
          <p:nvPr/>
        </p:nvSpPr>
        <p:spPr>
          <a:xfrm>
            <a:off x="129025" y="4102400"/>
            <a:ext cx="2839500" cy="1427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Facebook</a:t>
            </a:r>
            <a:r>
              <a:rPr lang="en" sz="900">
                <a:solidFill>
                  <a:srgbClr val="E69138"/>
                </a:solidFill>
                <a:latin typeface="Poppins"/>
                <a:ea typeface="Poppins"/>
                <a:cs typeface="Poppins"/>
                <a:sym typeface="Poppins"/>
              </a:rPr>
              <a:t> : Volume terbesar (sesi paling banyak, tetapi conversion rendah -&gt; low-intent users) </a:t>
            </a:r>
            <a:r>
              <a:rPr b="1" lang="en" sz="900">
                <a:solidFill>
                  <a:srgbClr val="FF0000"/>
                </a:solidFill>
                <a:latin typeface="Poppins"/>
                <a:ea typeface="Poppins"/>
                <a:cs typeface="Poppins"/>
                <a:sym typeface="Poppins"/>
              </a:rPr>
              <a:t>(conv. rate: 3.7%)</a:t>
            </a:r>
            <a:endParaRPr b="1" sz="900">
              <a:solidFill>
                <a:srgbClr val="FF0000"/>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Google</a:t>
            </a:r>
            <a:r>
              <a:rPr lang="en" sz="900">
                <a:solidFill>
                  <a:srgbClr val="E69138"/>
                </a:solidFill>
                <a:latin typeface="Poppins"/>
                <a:ea typeface="Poppins"/>
                <a:cs typeface="Poppins"/>
                <a:sym typeface="Poppins"/>
              </a:rPr>
              <a:t> : Paid ads aktif untuk traffic tapi banyak yang tidak convert </a:t>
            </a:r>
            <a:r>
              <a:rPr lang="en" sz="900">
                <a:solidFill>
                  <a:srgbClr val="E69138"/>
                </a:solidFill>
                <a:latin typeface="Poppins"/>
                <a:ea typeface="Poppins"/>
                <a:cs typeface="Poppins"/>
                <a:sym typeface="Poppins"/>
              </a:rPr>
              <a:t>(conv. rate: 5.7%)</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t/>
            </a:r>
            <a:endParaRPr sz="900">
              <a:solidFill>
                <a:srgbClr val="E69138"/>
              </a:solidFill>
              <a:latin typeface="Poppins"/>
              <a:ea typeface="Poppins"/>
              <a:cs typeface="Poppins"/>
              <a:sym typeface="Poppins"/>
            </a:endParaRPr>
          </a:p>
        </p:txBody>
      </p:sp>
      <p:sp>
        <p:nvSpPr>
          <p:cNvPr id="308" name="Google Shape;308;p31"/>
          <p:cNvSpPr txBox="1"/>
          <p:nvPr/>
        </p:nvSpPr>
        <p:spPr>
          <a:xfrm>
            <a:off x="2968525" y="4082343"/>
            <a:ext cx="2629200" cy="1273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Newsletter</a:t>
            </a:r>
            <a:r>
              <a:rPr lang="en" sz="900">
                <a:solidFill>
                  <a:srgbClr val="E69138"/>
                </a:solidFill>
                <a:latin typeface="Poppins"/>
                <a:ea typeface="Poppins"/>
                <a:cs typeface="Poppins"/>
                <a:sym typeface="Poppins"/>
              </a:rPr>
              <a:t> : High-intent channel, user sudah mengenal dan tertarik membeli (conv. </a:t>
            </a:r>
            <a:r>
              <a:rPr lang="en" sz="900">
                <a:solidFill>
                  <a:srgbClr val="E69138"/>
                </a:solidFill>
                <a:latin typeface="Poppins"/>
                <a:ea typeface="Poppins"/>
                <a:cs typeface="Poppins"/>
                <a:sym typeface="Poppins"/>
              </a:rPr>
              <a:t>r</a:t>
            </a:r>
            <a:r>
              <a:rPr lang="en" sz="900">
                <a:solidFill>
                  <a:srgbClr val="E69138"/>
                </a:solidFill>
                <a:latin typeface="Poppins"/>
                <a:ea typeface="Poppins"/>
                <a:cs typeface="Poppins"/>
                <a:sym typeface="Poppins"/>
              </a:rPr>
              <a:t>ate: 9.5%)</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Direct</a:t>
            </a:r>
            <a:r>
              <a:rPr lang="en" sz="900">
                <a:solidFill>
                  <a:srgbClr val="E69138"/>
                </a:solidFill>
                <a:latin typeface="Poppins"/>
                <a:ea typeface="Poppins"/>
                <a:cs typeface="Poppins"/>
                <a:sym typeface="Poppins"/>
              </a:rPr>
              <a:t> : Conversion rate nya TERTINGGI </a:t>
            </a:r>
            <a:r>
              <a:rPr b="1" lang="en" sz="900">
                <a:solidFill>
                  <a:srgbClr val="00FF00"/>
                </a:solidFill>
                <a:latin typeface="Poppins"/>
                <a:ea typeface="Poppins"/>
                <a:cs typeface="Poppins"/>
                <a:sym typeface="Poppins"/>
              </a:rPr>
              <a:t>(conv. </a:t>
            </a:r>
            <a:r>
              <a:rPr b="1" lang="en" sz="900">
                <a:solidFill>
                  <a:srgbClr val="00FF00"/>
                </a:solidFill>
                <a:latin typeface="Poppins"/>
                <a:ea typeface="Poppins"/>
                <a:cs typeface="Poppins"/>
                <a:sym typeface="Poppins"/>
              </a:rPr>
              <a:t>r</a:t>
            </a:r>
            <a:r>
              <a:rPr b="1" lang="en" sz="900">
                <a:solidFill>
                  <a:srgbClr val="00FF00"/>
                </a:solidFill>
                <a:latin typeface="Poppins"/>
                <a:ea typeface="Poppins"/>
                <a:cs typeface="Poppins"/>
                <a:sym typeface="Poppins"/>
              </a:rPr>
              <a:t>ate: 13.9%)</a:t>
            </a:r>
            <a:r>
              <a:rPr lang="en" sz="900">
                <a:solidFill>
                  <a:srgbClr val="E69138"/>
                </a:solidFill>
                <a:latin typeface="Poppins"/>
                <a:ea typeface="Poppins"/>
                <a:cs typeface="Poppins"/>
                <a:sym typeface="Poppins"/>
              </a:rPr>
              <a:t>, user langsung datang sendiri</a:t>
            </a:r>
            <a:endParaRPr sz="900">
              <a:solidFill>
                <a:srgbClr val="E69138"/>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2" name="Shape 312"/>
        <p:cNvGrpSpPr/>
        <p:nvPr/>
      </p:nvGrpSpPr>
      <p:grpSpPr>
        <a:xfrm>
          <a:off x="0" y="0"/>
          <a:ext cx="0" cy="0"/>
          <a:chOff x="0" y="0"/>
          <a:chExt cx="0" cy="0"/>
        </a:xfrm>
      </p:grpSpPr>
      <p:sp>
        <p:nvSpPr>
          <p:cNvPr id="313" name="Google Shape;313;p32"/>
          <p:cNvSpPr txBox="1"/>
          <p:nvPr>
            <p:ph type="title"/>
          </p:nvPr>
        </p:nvSpPr>
        <p:spPr>
          <a:xfrm>
            <a:off x="645900" y="1932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Conversion Rate by Payment Method</a:t>
            </a:r>
            <a:endParaRPr b="1" sz="2500">
              <a:solidFill>
                <a:srgbClr val="E69138"/>
              </a:solidFill>
              <a:latin typeface="Poppins"/>
              <a:ea typeface="Poppins"/>
              <a:cs typeface="Poppins"/>
              <a:sym typeface="Poppins"/>
            </a:endParaRPr>
          </a:p>
        </p:txBody>
      </p:sp>
      <p:pic>
        <p:nvPicPr>
          <p:cNvPr id="314" name="Google Shape;314;p32"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15" name="Google Shape;315;p32"/>
          <p:cNvSpPr txBox="1"/>
          <p:nvPr/>
        </p:nvSpPr>
        <p:spPr>
          <a:xfrm>
            <a:off x="5683775" y="1144917"/>
            <a:ext cx="3343200" cy="3657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900">
                <a:solidFill>
                  <a:srgbClr val="E69138"/>
                </a:solidFill>
                <a:latin typeface="Poppins"/>
                <a:ea typeface="Poppins"/>
                <a:cs typeface="Poppins"/>
                <a:sym typeface="Poppins"/>
              </a:rPr>
              <a:t>Dari data ini menjawab bahwa metode pembayaran sangat </a:t>
            </a:r>
            <a:r>
              <a:rPr lang="en" sz="900">
                <a:solidFill>
                  <a:srgbClr val="E69138"/>
                </a:solidFill>
                <a:latin typeface="Poppins"/>
                <a:ea typeface="Poppins"/>
                <a:cs typeface="Poppins"/>
                <a:sym typeface="Poppins"/>
              </a:rPr>
              <a:t>mempengaruhi</a:t>
            </a:r>
            <a:r>
              <a:rPr lang="en" sz="900">
                <a:solidFill>
                  <a:srgbClr val="E69138"/>
                </a:solidFill>
                <a:latin typeface="Poppins"/>
                <a:ea typeface="Poppins"/>
                <a:cs typeface="Poppins"/>
                <a:sym typeface="Poppins"/>
              </a:rPr>
              <a:t> kemungkinan seorang pengguna untuk membatalkan pesanannya. </a:t>
            </a:r>
            <a:r>
              <a:rPr b="1" lang="en" sz="900">
                <a:solidFill>
                  <a:srgbClr val="E69138"/>
                </a:solidFill>
                <a:latin typeface="Poppins"/>
                <a:ea typeface="Poppins"/>
                <a:cs typeface="Poppins"/>
                <a:sym typeface="Poppins"/>
              </a:rPr>
              <a:t>Tingkat pembatalan berbanding lurus dengan seberapa besar "usaha" yang harus dilakukan pengguna saat membayar, serta seberapa besar ketersediaan dana tunai mereka saat itu</a:t>
            </a:r>
            <a:r>
              <a:rPr lang="en" sz="900">
                <a:solidFill>
                  <a:srgbClr val="E69138"/>
                </a:solidFill>
                <a:latin typeface="Poppins"/>
                <a:ea typeface="Poppins"/>
                <a:cs typeface="Poppins"/>
                <a:sym typeface="Poppins"/>
              </a:rPr>
              <a:t>. Metode pembayaran tunda (deferred) memiliki performa jauh lebih unggul dibandingkan metode pembayaran langsung yang mengharuskan saldo cukup.</a:t>
            </a:r>
            <a:endParaRPr sz="900">
              <a:solidFill>
                <a:srgbClr val="E69138"/>
              </a:solidFill>
              <a:latin typeface="Poppins"/>
              <a:ea typeface="Poppins"/>
              <a:cs typeface="Poppins"/>
              <a:sym typeface="Poppins"/>
            </a:endParaRPr>
          </a:p>
          <a:p>
            <a:pPr indent="0" lvl="0" marL="0" rtl="0" algn="just">
              <a:lnSpc>
                <a:spcPct val="115000"/>
              </a:lnSpc>
              <a:spcBef>
                <a:spcPts val="1200"/>
              </a:spcBef>
              <a:spcAft>
                <a:spcPts val="0"/>
              </a:spcAft>
              <a:buNone/>
            </a:pPr>
            <a:r>
              <a:rPr b="1" lang="en" sz="900">
                <a:solidFill>
                  <a:srgbClr val="E69138"/>
                </a:solidFill>
                <a:latin typeface="Poppins"/>
                <a:ea typeface="Poppins"/>
                <a:cs typeface="Poppins"/>
                <a:sym typeface="Poppins"/>
              </a:rPr>
              <a:t>Poin-Poin Utama</a:t>
            </a:r>
            <a:endParaRPr b="1" sz="900">
              <a:solidFill>
                <a:srgbClr val="E69138"/>
              </a:solidFill>
              <a:latin typeface="Poppins"/>
              <a:ea typeface="Poppins"/>
              <a:cs typeface="Poppins"/>
              <a:sym typeface="Poppins"/>
            </a:endParaRPr>
          </a:p>
          <a:p>
            <a:pPr indent="-285750" lvl="0" marL="457200" rtl="0" algn="just">
              <a:lnSpc>
                <a:spcPct val="115000"/>
              </a:lnSpc>
              <a:spcBef>
                <a:spcPts val="1200"/>
              </a:spcBef>
              <a:spcAft>
                <a:spcPts val="0"/>
              </a:spcAft>
              <a:buClr>
                <a:srgbClr val="E69138"/>
              </a:buClr>
              <a:buSzPts val="900"/>
              <a:buFont typeface="Poppins"/>
              <a:buChar char="●"/>
            </a:pPr>
            <a:r>
              <a:rPr b="1" lang="en" sz="900">
                <a:solidFill>
                  <a:srgbClr val="E69138"/>
                </a:solidFill>
                <a:latin typeface="Poppins"/>
                <a:ea typeface="Poppins"/>
                <a:cs typeface="Poppins"/>
                <a:sym typeface="Poppins"/>
              </a:rPr>
              <a:t>Keunggulan Mutlak "Beli Sekarang, Bayar Nanti" </a:t>
            </a:r>
            <a:r>
              <a:rPr lang="en" sz="900">
                <a:solidFill>
                  <a:srgbClr val="E69138"/>
                </a:solidFill>
                <a:latin typeface="Poppins"/>
                <a:ea typeface="Poppins"/>
                <a:cs typeface="Poppins"/>
                <a:sym typeface="Poppins"/>
              </a:rPr>
              <a:t>(Paylater). User tidak perlu punya saldo saat itu. </a:t>
            </a:r>
            <a:endParaRPr sz="900">
              <a:solidFill>
                <a:srgbClr val="E69138"/>
              </a:solidFill>
              <a:latin typeface="Poppins"/>
              <a:ea typeface="Poppins"/>
              <a:cs typeface="Poppins"/>
              <a:sym typeface="Poppins"/>
            </a:endParaRPr>
          </a:p>
          <a:p>
            <a:pPr indent="-285750" lvl="0" marL="457200" rtl="0" algn="just">
              <a:lnSpc>
                <a:spcPct val="115000"/>
              </a:lnSpc>
              <a:spcBef>
                <a:spcPts val="0"/>
              </a:spcBef>
              <a:spcAft>
                <a:spcPts val="0"/>
              </a:spcAft>
              <a:buClr>
                <a:srgbClr val="E69138"/>
              </a:buClr>
              <a:buSzPts val="900"/>
              <a:buFont typeface="Poppins"/>
              <a:buChar char="●"/>
            </a:pPr>
            <a:r>
              <a:rPr lang="en" sz="900">
                <a:solidFill>
                  <a:srgbClr val="E69138"/>
                </a:solidFill>
                <a:latin typeface="Poppins"/>
                <a:ea typeface="Poppins"/>
                <a:cs typeface="Poppins"/>
                <a:sym typeface="Poppins"/>
              </a:rPr>
              <a:t>Fakta Data: </a:t>
            </a:r>
            <a:r>
              <a:rPr b="1" lang="en" sz="900">
                <a:solidFill>
                  <a:srgbClr val="E69138"/>
                </a:solidFill>
                <a:latin typeface="Poppins"/>
                <a:ea typeface="Poppins"/>
                <a:cs typeface="Poppins"/>
                <a:sym typeface="Poppins"/>
              </a:rPr>
              <a:t>Paylater mencetak Conversion Rate tertinggi (bersama Biller Services)</a:t>
            </a:r>
            <a:r>
              <a:rPr lang="en" sz="900">
                <a:solidFill>
                  <a:srgbClr val="E69138"/>
                </a:solidFill>
                <a:latin typeface="Poppins"/>
                <a:ea typeface="Poppins"/>
                <a:cs typeface="Poppins"/>
                <a:sym typeface="Poppins"/>
              </a:rPr>
              <a:t> di angka 77%, dengan Cancelation Rate terendah (23%).</a:t>
            </a:r>
            <a:endParaRPr sz="900">
              <a:solidFill>
                <a:srgbClr val="E69138"/>
              </a:solidFill>
              <a:latin typeface="Poppins"/>
              <a:ea typeface="Poppins"/>
              <a:cs typeface="Poppins"/>
              <a:sym typeface="Poppins"/>
            </a:endParaRPr>
          </a:p>
          <a:p>
            <a:pPr indent="-285750" lvl="0" marL="457200" rtl="0" algn="just">
              <a:lnSpc>
                <a:spcPct val="115000"/>
              </a:lnSpc>
              <a:spcBef>
                <a:spcPts val="0"/>
              </a:spcBef>
              <a:spcAft>
                <a:spcPts val="0"/>
              </a:spcAft>
              <a:buClr>
                <a:srgbClr val="E69138"/>
              </a:buClr>
              <a:buSzPts val="900"/>
              <a:buFont typeface="Poppins"/>
              <a:buChar char="●"/>
            </a:pPr>
            <a:r>
              <a:rPr lang="en" sz="900">
                <a:solidFill>
                  <a:srgbClr val="E69138"/>
                </a:solidFill>
                <a:latin typeface="Poppins"/>
                <a:ea typeface="Poppins"/>
                <a:cs typeface="Poppins"/>
                <a:sym typeface="Poppins"/>
              </a:rPr>
              <a:t>Debit Completion Rate: </a:t>
            </a:r>
            <a:r>
              <a:rPr b="1" lang="en" sz="900">
                <a:solidFill>
                  <a:srgbClr val="E69138"/>
                </a:solidFill>
                <a:latin typeface="Poppins"/>
                <a:ea typeface="Poppins"/>
                <a:cs typeface="Poppins"/>
                <a:sym typeface="Poppins"/>
              </a:rPr>
              <a:t>Terendah</a:t>
            </a:r>
            <a:r>
              <a:rPr lang="en" sz="900">
                <a:solidFill>
                  <a:srgbClr val="E69138"/>
                </a:solidFill>
                <a:latin typeface="Poppins"/>
                <a:ea typeface="Poppins"/>
                <a:cs typeface="Poppins"/>
                <a:sym typeface="Poppins"/>
              </a:rPr>
              <a:t>, harus ada saldo real-time, sering gagal bayar</a:t>
            </a:r>
            <a:endParaRPr sz="900">
              <a:solidFill>
                <a:srgbClr val="E69138"/>
              </a:solidFill>
              <a:latin typeface="Poppins"/>
              <a:ea typeface="Poppins"/>
              <a:cs typeface="Poppins"/>
              <a:sym typeface="Poppins"/>
            </a:endParaRPr>
          </a:p>
        </p:txBody>
      </p:sp>
      <p:pic>
        <p:nvPicPr>
          <p:cNvPr id="316" name="Google Shape;316;p32"/>
          <p:cNvPicPr preferRelativeResize="0"/>
          <p:nvPr/>
        </p:nvPicPr>
        <p:blipFill>
          <a:blip r:embed="rId4">
            <a:alphaModFix/>
          </a:blip>
          <a:stretch>
            <a:fillRect/>
          </a:stretch>
        </p:blipFill>
        <p:spPr>
          <a:xfrm>
            <a:off x="304800" y="1214300"/>
            <a:ext cx="5378975" cy="3080098"/>
          </a:xfrm>
          <a:prstGeom prst="rect">
            <a:avLst/>
          </a:prstGeom>
          <a:noFill/>
          <a:ln cap="flat" cmpd="sng" w="9525">
            <a:solidFill>
              <a:srgbClr val="E69138"/>
            </a:solidFill>
            <a:prstDash val="solid"/>
            <a:round/>
            <a:headEnd len="sm" w="sm" type="none"/>
            <a:tailEnd len="sm" w="sm" type="none"/>
          </a:ln>
        </p:spPr>
      </p:pic>
      <p:sp>
        <p:nvSpPr>
          <p:cNvPr id="317" name="Google Shape;317;p32"/>
          <p:cNvSpPr txBox="1"/>
          <p:nvPr/>
        </p:nvSpPr>
        <p:spPr>
          <a:xfrm>
            <a:off x="304800" y="4364575"/>
            <a:ext cx="3000000" cy="48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 sz="900">
                <a:solidFill>
                  <a:srgbClr val="E69138"/>
                </a:solidFill>
                <a:latin typeface="Poppins"/>
                <a:ea typeface="Poppins"/>
                <a:cs typeface="Poppins"/>
                <a:sym typeface="Poppins"/>
              </a:rPr>
              <a:t>Quick Win: </a:t>
            </a:r>
            <a:r>
              <a:rPr lang="en" sz="900">
                <a:solidFill>
                  <a:srgbClr val="E69138"/>
                </a:solidFill>
                <a:latin typeface="Poppins"/>
                <a:ea typeface="Poppins"/>
                <a:cs typeface="Poppins"/>
                <a:sym typeface="Poppins"/>
              </a:rPr>
              <a:t>Jadikan Paylater sebagai default payment option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1" name="Shape 321"/>
        <p:cNvGrpSpPr/>
        <p:nvPr/>
      </p:nvGrpSpPr>
      <p:grpSpPr>
        <a:xfrm>
          <a:off x="0" y="0"/>
          <a:ext cx="0" cy="0"/>
          <a:chOff x="0" y="0"/>
          <a:chExt cx="0" cy="0"/>
        </a:xfrm>
      </p:grpSpPr>
      <p:sp>
        <p:nvSpPr>
          <p:cNvPr id="322" name="Google Shape;322;p33"/>
          <p:cNvSpPr txBox="1"/>
          <p:nvPr>
            <p:ph type="title"/>
          </p:nvPr>
        </p:nvSpPr>
        <p:spPr>
          <a:xfrm>
            <a:off x="672350" y="33975"/>
            <a:ext cx="34467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rgbClr val="E69138"/>
                </a:solidFill>
                <a:latin typeface="Poppins"/>
                <a:ea typeface="Poppins"/>
                <a:cs typeface="Poppins"/>
                <a:sym typeface="Poppins"/>
              </a:rPr>
              <a:t>OBIPR FRAMEWORK  </a:t>
            </a:r>
            <a:endParaRPr sz="1200">
              <a:solidFill>
                <a:srgbClr val="E69138"/>
              </a:solidFill>
              <a:latin typeface="Poppins"/>
              <a:ea typeface="Poppins"/>
              <a:cs typeface="Poppins"/>
              <a:sym typeface="Poppins"/>
            </a:endParaRPr>
          </a:p>
        </p:txBody>
      </p:sp>
      <p:pic>
        <p:nvPicPr>
          <p:cNvPr id="323" name="Google Shape;323;p33"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graphicFrame>
        <p:nvGraphicFramePr>
          <p:cNvPr id="324" name="Google Shape;324;p33"/>
          <p:cNvGraphicFramePr/>
          <p:nvPr/>
        </p:nvGraphicFramePr>
        <p:xfrm>
          <a:off x="152175" y="893925"/>
          <a:ext cx="3000000" cy="3000000"/>
        </p:xfrm>
        <a:graphic>
          <a:graphicData uri="http://schemas.openxmlformats.org/drawingml/2006/table">
            <a:tbl>
              <a:tblPr>
                <a:noFill/>
                <a:tableStyleId>{4361DBF6-FFBF-4A1A-89B0-628AE016219D}</a:tableStyleId>
              </a:tblPr>
              <a:tblGrid>
                <a:gridCol w="1107275"/>
                <a:gridCol w="2316925"/>
                <a:gridCol w="1758625"/>
                <a:gridCol w="1191025"/>
                <a:gridCol w="2465800"/>
              </a:tblGrid>
              <a:tr h="100000">
                <a:tc>
                  <a:txBody>
                    <a:bodyPr/>
                    <a:lstStyle/>
                    <a:p>
                      <a:pPr indent="0" lvl="0" marL="0" rtl="0" algn="ctr">
                        <a:lnSpc>
                          <a:spcPct val="115000"/>
                        </a:lnSpc>
                        <a:spcBef>
                          <a:spcPts val="0"/>
                        </a:spcBef>
                        <a:spcAft>
                          <a:spcPts val="0"/>
                        </a:spcAft>
                        <a:buNone/>
                      </a:pPr>
                      <a:r>
                        <a:rPr b="1" lang="en" sz="800">
                          <a:solidFill>
                            <a:srgbClr val="E69138"/>
                          </a:solidFill>
                          <a:latin typeface="Poppins"/>
                          <a:ea typeface="Poppins"/>
                          <a:cs typeface="Poppins"/>
                          <a:sym typeface="Poppins"/>
                        </a:rPr>
                        <a:t>Category</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ctr">
                        <a:lnSpc>
                          <a:spcPct val="115000"/>
                        </a:lnSpc>
                        <a:spcBef>
                          <a:spcPts val="0"/>
                        </a:spcBef>
                        <a:spcAft>
                          <a:spcPts val="0"/>
                        </a:spcAft>
                        <a:buNone/>
                      </a:pPr>
                      <a:r>
                        <a:rPr b="1" lang="en" sz="800">
                          <a:solidFill>
                            <a:srgbClr val="E69138"/>
                          </a:solidFill>
                          <a:latin typeface="Poppins"/>
                          <a:ea typeface="Poppins"/>
                          <a:cs typeface="Poppins"/>
                          <a:sym typeface="Poppins"/>
                        </a:rPr>
                        <a:t>Business Impact</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ctr">
                        <a:lnSpc>
                          <a:spcPct val="115000"/>
                        </a:lnSpc>
                        <a:spcBef>
                          <a:spcPts val="0"/>
                        </a:spcBef>
                        <a:spcAft>
                          <a:spcPts val="0"/>
                        </a:spcAft>
                        <a:buNone/>
                      </a:pPr>
                      <a:r>
                        <a:rPr b="1" lang="en" sz="800">
                          <a:solidFill>
                            <a:srgbClr val="E69138"/>
                          </a:solidFill>
                          <a:latin typeface="Poppins"/>
                          <a:ea typeface="Poppins"/>
                          <a:cs typeface="Poppins"/>
                          <a:sym typeface="Poppins"/>
                        </a:rPr>
                        <a:t>Isolation (Focusing Area)</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ctr">
                        <a:lnSpc>
                          <a:spcPct val="115000"/>
                        </a:lnSpc>
                        <a:spcBef>
                          <a:spcPts val="0"/>
                        </a:spcBef>
                        <a:spcAft>
                          <a:spcPts val="0"/>
                        </a:spcAft>
                        <a:buNone/>
                      </a:pPr>
                      <a:r>
                        <a:rPr b="1" lang="en" sz="800">
                          <a:solidFill>
                            <a:srgbClr val="E69138"/>
                          </a:solidFill>
                          <a:latin typeface="Poppins"/>
                          <a:ea typeface="Poppins"/>
                          <a:cs typeface="Poppins"/>
                          <a:sym typeface="Poppins"/>
                        </a:rPr>
                        <a:t>Prioritization</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ctr">
                        <a:lnSpc>
                          <a:spcPct val="115000"/>
                        </a:lnSpc>
                        <a:spcBef>
                          <a:spcPts val="0"/>
                        </a:spcBef>
                        <a:spcAft>
                          <a:spcPts val="0"/>
                        </a:spcAft>
                        <a:buNone/>
                      </a:pPr>
                      <a:r>
                        <a:rPr b="1" lang="en" sz="800">
                          <a:solidFill>
                            <a:srgbClr val="E69138"/>
                          </a:solidFill>
                          <a:latin typeface="Poppins"/>
                          <a:ea typeface="Poppins"/>
                          <a:cs typeface="Poppins"/>
                          <a:sym typeface="Poppins"/>
                        </a:rPr>
                        <a:t>Recommendation</a:t>
                      </a:r>
                      <a:endParaRPr b="1" sz="800">
                        <a:solidFill>
                          <a:srgbClr val="E69138"/>
                        </a:solidFill>
                        <a:latin typeface="Poppins"/>
                        <a:ea typeface="Poppins"/>
                        <a:cs typeface="Poppins"/>
                        <a:sym typeface="Poppins"/>
                      </a:endParaRPr>
                    </a:p>
                  </a:txBody>
                  <a:tcPr marT="91425" marB="91425" marR="91425" marL="91425">
                    <a:solidFill>
                      <a:srgbClr val="FFF2CC"/>
                    </a:solidFill>
                  </a:tcPr>
                </a:tc>
              </a:tr>
              <a:tr h="336950">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Checkout Drop-off</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Drop-off terbesar terjadi di tahap checkout → completion (hanya ~64.3%) → potensi revenue hilang signifikan</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Analisis step checkout (choose address → payment → checkout) dan identifikasi friction point</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High – Critical bottleneck</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Simplify checkout flow (reduce steps, guest checkout, auto-fill data) untuk mempercepat proses transaksi</a:t>
                      </a:r>
                      <a:endParaRPr b="1" sz="600">
                        <a:solidFill>
                          <a:srgbClr val="E69138"/>
                        </a:solidFill>
                        <a:latin typeface="Poppins"/>
                        <a:ea typeface="Poppins"/>
                        <a:cs typeface="Poppins"/>
                        <a:sym typeface="Poppins"/>
                      </a:endParaRPr>
                    </a:p>
                  </a:txBody>
                  <a:tcPr marT="91425" marB="91425" marR="91425" marL="91425">
                    <a:solidFill>
                      <a:schemeClr val="lt2"/>
                    </a:solidFill>
                  </a:tcPr>
                </a:tc>
              </a:tr>
              <a:tr h="100000">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High Cancellation Rate</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Cancellation rate tinggi (~35.7%) menunjukkan banyak transaksi gagal diselesaikan → langsung menurunkan revenue</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Analisis penyebab cancel (payment failure, user hesitation, cost shock)</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High – Direct revenue impact</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Kurangi friction pembayaran, tampilkan error handling yang jelas, dan improve payment success rate</a:t>
                      </a:r>
                      <a:endParaRPr b="1" sz="600">
                        <a:solidFill>
                          <a:srgbClr val="E69138"/>
                        </a:solidFill>
                        <a:latin typeface="Poppins"/>
                        <a:ea typeface="Poppins"/>
                        <a:cs typeface="Poppins"/>
                        <a:sym typeface="Poppins"/>
                      </a:endParaRPr>
                    </a:p>
                  </a:txBody>
                  <a:tcPr marT="91425" marB="91425" marR="91425" marL="91425">
                    <a:solidFill>
                      <a:schemeClr val="lt2"/>
                    </a:solidFill>
                  </a:tcPr>
                </a:tc>
              </a:tr>
              <a:tr h="100000">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Payment Friction</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Metode pembayaran sangat mempengaruhi conversion (Paylater: 77% conversion, cancel terendah) → metode lain underperform</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Bandingkan conversion &amp; cancellation per payment method</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High – Quick win opportunity</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Prioritaskan Paylater (default option), tambahkan insentif (cashback/discount), dan optimalkan metode pembayaran lain</a:t>
                      </a:r>
                      <a:endParaRPr b="1" sz="600">
                        <a:solidFill>
                          <a:srgbClr val="E69138"/>
                        </a:solidFill>
                        <a:latin typeface="Poppins"/>
                        <a:ea typeface="Poppins"/>
                        <a:cs typeface="Poppins"/>
                        <a:sym typeface="Poppins"/>
                      </a:endParaRPr>
                    </a:p>
                  </a:txBody>
                  <a:tcPr marT="91425" marB="91425" marR="91425" marL="91425">
                    <a:solidFill>
                      <a:schemeClr val="lt2"/>
                    </a:solidFill>
                  </a:tcPr>
                </a:tc>
              </a:tr>
              <a:tr h="202800">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Cart Abandonment</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Banyak user berhenti setelah add-to-cart → kehilangan potential buyer sebelum checkout</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Analisis session dengan cart event tanpa transaksi</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High – Mid funnel leakage</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Implement remarketing (email/push notif), reminder cart, dan voucher untuk mendorong completion</a:t>
                      </a:r>
                      <a:endParaRPr b="1" sz="600">
                        <a:solidFill>
                          <a:srgbClr val="E69138"/>
                        </a:solidFill>
                        <a:latin typeface="Poppins"/>
                        <a:ea typeface="Poppins"/>
                        <a:cs typeface="Poppins"/>
                        <a:sym typeface="Poppins"/>
                      </a:endParaRPr>
                    </a:p>
                  </a:txBody>
                  <a:tcPr marT="91425" marB="91425" marR="91425" marL="91425">
                    <a:solidFill>
                      <a:schemeClr val="lt2"/>
                    </a:solidFill>
                  </a:tcPr>
                </a:tc>
              </a:tr>
              <a:tr h="327375">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Traffic Quality Gap</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Traffic tinggi tidak selalu menghasilkan conversion → beberapa channel membawa low-intent users</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Bandingkan conversion rate per traffic source</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Medium – Marketing optimization</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Fokus budget ke high-converting channels, optimasi targeting campaign, kurangi low-quality traffic</a:t>
                      </a:r>
                      <a:endParaRPr b="1" sz="600">
                        <a:solidFill>
                          <a:srgbClr val="E69138"/>
                        </a:solidFill>
                        <a:latin typeface="Poppins"/>
                        <a:ea typeface="Poppins"/>
                        <a:cs typeface="Poppins"/>
                        <a:sym typeface="Poppins"/>
                      </a:endParaRPr>
                    </a:p>
                  </a:txBody>
                  <a:tcPr marT="91425" marB="91425" marR="91425" marL="91425">
                    <a:solidFill>
                      <a:schemeClr val="lt2"/>
                    </a:solidFill>
                  </a:tcPr>
                </a:tc>
              </a:tr>
              <a:tr h="362500">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Demographic Behavior Gap</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Perbedaan conversion antar gender &amp; age group → peluang optimasi targeting</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Analisis conversion per segment (gender, age, location)</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Medium – Segmentation opportunity</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Buat strategi marketing berbeda per segment (promo, messaging, UX personalization)</a:t>
                      </a:r>
                      <a:endParaRPr b="1" sz="600">
                        <a:solidFill>
                          <a:srgbClr val="E69138"/>
                        </a:solidFill>
                        <a:latin typeface="Poppins"/>
                        <a:ea typeface="Poppins"/>
                        <a:cs typeface="Poppins"/>
                        <a:sym typeface="Poppins"/>
                      </a:endParaRPr>
                    </a:p>
                  </a:txBody>
                  <a:tcPr marT="91425" marB="91425" marR="91425" marL="91425">
                    <a:solidFill>
                      <a:schemeClr val="lt2"/>
                    </a:solidFill>
                  </a:tcPr>
                </a:tc>
              </a:tr>
              <a:tr h="482250">
                <a:tc>
                  <a:txBody>
                    <a:bodyPr/>
                    <a:lstStyle/>
                    <a:p>
                      <a:pPr indent="0" lvl="0" marL="0" rtl="0" algn="l">
                        <a:spcBef>
                          <a:spcPts val="0"/>
                        </a:spcBef>
                        <a:spcAft>
                          <a:spcPts val="0"/>
                        </a:spcAft>
                        <a:buNone/>
                      </a:pPr>
                      <a:r>
                        <a:rPr b="1" lang="en" sz="800">
                          <a:solidFill>
                            <a:srgbClr val="E69138"/>
                          </a:solidFill>
                          <a:latin typeface="Poppins"/>
                          <a:ea typeface="Poppins"/>
                          <a:cs typeface="Poppins"/>
                          <a:sym typeface="Poppins"/>
                        </a:rPr>
                        <a:t>Location Performance Gap</a:t>
                      </a:r>
                      <a:endParaRPr b="1" sz="800">
                        <a:solidFill>
                          <a:srgbClr val="E69138"/>
                        </a:solidFill>
                        <a:latin typeface="Poppins"/>
                        <a:ea typeface="Poppins"/>
                        <a:cs typeface="Poppins"/>
                        <a:sym typeface="Poppins"/>
                      </a:endParaRPr>
                    </a:p>
                  </a:txBody>
                  <a:tcPr marT="91425" marB="91425" marR="91425" marL="91425">
                    <a:solidFill>
                      <a:srgbClr val="FFF2CC"/>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Performa conversion berbeda antar kota → potensi inefficiency regional</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Bandingkan completion rate per location</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Medium – Geographic optimization</a:t>
                      </a:r>
                      <a:endParaRPr b="1" sz="600">
                        <a:solidFill>
                          <a:srgbClr val="E69138"/>
                        </a:solidFill>
                        <a:latin typeface="Poppins"/>
                        <a:ea typeface="Poppins"/>
                        <a:cs typeface="Poppins"/>
                        <a:sym typeface="Poppins"/>
                      </a:endParaRPr>
                    </a:p>
                  </a:txBody>
                  <a:tcPr marT="91425" marB="91425" marR="91425" marL="91425">
                    <a:solidFill>
                      <a:schemeClr val="lt2"/>
                    </a:solidFill>
                  </a:tcPr>
                </a:tc>
                <a:tc>
                  <a:txBody>
                    <a:bodyPr/>
                    <a:lstStyle/>
                    <a:p>
                      <a:pPr indent="0" lvl="0" marL="0" rtl="0" algn="l">
                        <a:spcBef>
                          <a:spcPts val="0"/>
                        </a:spcBef>
                        <a:spcAft>
                          <a:spcPts val="0"/>
                        </a:spcAft>
                        <a:buNone/>
                      </a:pPr>
                      <a:r>
                        <a:rPr b="1" lang="en" sz="600">
                          <a:solidFill>
                            <a:srgbClr val="E69138"/>
                          </a:solidFill>
                          <a:latin typeface="Poppins"/>
                          <a:ea typeface="Poppins"/>
                          <a:cs typeface="Poppins"/>
                          <a:sym typeface="Poppins"/>
                        </a:rPr>
                        <a:t>Optimasi campaign &amp; promo per wilayah dengan conversion rend</a:t>
                      </a:r>
                      <a:endParaRPr b="1" sz="600">
                        <a:solidFill>
                          <a:srgbClr val="E69138"/>
                        </a:solidFill>
                        <a:latin typeface="Poppins"/>
                        <a:ea typeface="Poppins"/>
                        <a:cs typeface="Poppins"/>
                        <a:sym typeface="Poppins"/>
                      </a:endParaRPr>
                    </a:p>
                  </a:txBody>
                  <a:tcPr marT="91425" marB="91425" marR="91425" marL="91425">
                    <a:solidFill>
                      <a:schemeClr val="lt2"/>
                    </a:solidFill>
                  </a:tcPr>
                </a:tc>
              </a:tr>
            </a:tbl>
          </a:graphicData>
        </a:graphic>
      </p:graphicFrame>
      <p:sp>
        <p:nvSpPr>
          <p:cNvPr id="325" name="Google Shape;325;p33"/>
          <p:cNvSpPr txBox="1"/>
          <p:nvPr/>
        </p:nvSpPr>
        <p:spPr>
          <a:xfrm>
            <a:off x="716014" y="388229"/>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E69138"/>
                </a:solidFill>
                <a:latin typeface="Poppins"/>
                <a:ea typeface="Poppins"/>
                <a:cs typeface="Poppins"/>
                <a:sym typeface="Poppins"/>
              </a:rPr>
              <a:t>Ecommerce Funnel Analysis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9" name="Shape 329"/>
        <p:cNvGrpSpPr/>
        <p:nvPr/>
      </p:nvGrpSpPr>
      <p:grpSpPr>
        <a:xfrm>
          <a:off x="0" y="0"/>
          <a:ext cx="0" cy="0"/>
          <a:chOff x="0" y="0"/>
          <a:chExt cx="0" cy="0"/>
        </a:xfrm>
      </p:grpSpPr>
      <p:sp>
        <p:nvSpPr>
          <p:cNvPr id="330" name="Google Shape;330;p34"/>
          <p:cNvSpPr/>
          <p:nvPr/>
        </p:nvSpPr>
        <p:spPr>
          <a:xfrm>
            <a:off x="0" y="0"/>
            <a:ext cx="1062000" cy="13092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31" name="Google Shape;331;p34"/>
          <p:cNvSpPr/>
          <p:nvPr/>
        </p:nvSpPr>
        <p:spPr>
          <a:xfrm rot="10800000">
            <a:off x="8005050" y="3847950"/>
            <a:ext cx="1139100" cy="1295700"/>
          </a:xfrm>
          <a:prstGeom prst="halfFrame">
            <a:avLst>
              <a:gd fmla="val 33333" name="adj1"/>
              <a:gd fmla="val 333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32" name="Google Shape;332;p34"/>
          <p:cNvSpPr txBox="1"/>
          <p:nvPr>
            <p:ph type="title"/>
          </p:nvPr>
        </p:nvSpPr>
        <p:spPr>
          <a:xfrm>
            <a:off x="672063" y="1548438"/>
            <a:ext cx="7852200" cy="82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solidFill>
                  <a:srgbClr val="E69138"/>
                </a:solidFill>
                <a:latin typeface="Poppins"/>
                <a:ea typeface="Poppins"/>
                <a:cs typeface="Poppins"/>
                <a:sym typeface="Poppins"/>
              </a:rPr>
              <a:t>APPENDIX</a:t>
            </a:r>
            <a:endParaRPr b="1">
              <a:solidFill>
                <a:srgbClr val="E69138"/>
              </a:solidFill>
              <a:latin typeface="Poppins"/>
              <a:ea typeface="Poppins"/>
              <a:cs typeface="Poppins"/>
              <a:sym typeface="Poppins"/>
            </a:endParaRPr>
          </a:p>
        </p:txBody>
      </p:sp>
      <p:pic>
        <p:nvPicPr>
          <p:cNvPr id="333" name="Google Shape;333;p34"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34" name="Google Shape;334;p34"/>
          <p:cNvSpPr txBox="1"/>
          <p:nvPr/>
        </p:nvSpPr>
        <p:spPr>
          <a:xfrm>
            <a:off x="765732" y="2240636"/>
            <a:ext cx="188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E69138"/>
                </a:solidFill>
                <a:latin typeface="Poppins"/>
                <a:ea typeface="Poppins"/>
                <a:cs typeface="Poppins"/>
                <a:sym typeface="Poppins"/>
              </a:rPr>
              <a:t>E-CommerceU</a:t>
            </a:r>
            <a:endParaRPr sz="1800">
              <a:solidFill>
                <a:srgbClr val="E69138"/>
              </a:solidFill>
              <a:latin typeface="Poppins"/>
              <a:ea typeface="Poppins"/>
              <a:cs typeface="Poppins"/>
              <a:sym typeface="Poppins"/>
            </a:endParaRPr>
          </a:p>
        </p:txBody>
      </p:sp>
      <p:sp>
        <p:nvSpPr>
          <p:cNvPr id="335" name="Google Shape;335;p34"/>
          <p:cNvSpPr/>
          <p:nvPr/>
        </p:nvSpPr>
        <p:spPr>
          <a:xfrm>
            <a:off x="728425" y="3159775"/>
            <a:ext cx="1622100" cy="4353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900">
              <a:solidFill>
                <a:srgbClr val="E69138"/>
              </a:solidFill>
              <a:latin typeface="Poppins"/>
              <a:ea typeface="Poppins"/>
              <a:cs typeface="Poppins"/>
              <a:sym typeface="Poppins"/>
            </a:endParaRPr>
          </a:p>
        </p:txBody>
      </p:sp>
      <p:sp>
        <p:nvSpPr>
          <p:cNvPr id="336" name="Google Shape;336;p34"/>
          <p:cNvSpPr txBox="1"/>
          <p:nvPr>
            <p:ph idx="4294967295" type="subTitle"/>
          </p:nvPr>
        </p:nvSpPr>
        <p:spPr>
          <a:xfrm>
            <a:off x="798775" y="3194875"/>
            <a:ext cx="1450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000" u="sng">
                <a:solidFill>
                  <a:srgbClr val="E69138"/>
                </a:solidFill>
                <a:latin typeface="Poppins"/>
                <a:ea typeface="Poppins"/>
                <a:cs typeface="Poppins"/>
                <a:sym typeface="Poppins"/>
                <a:hlinkClick r:id="rId4">
                  <a:extLst>
                    <a:ext uri="{A12FA001-AC4F-418D-AE19-62706E023703}">
                      <ahyp:hlinkClr val="tx"/>
                    </a:ext>
                  </a:extLst>
                </a:hlinkClick>
              </a:rPr>
              <a:t>Link Tableau Public</a:t>
            </a:r>
            <a:endParaRPr b="1" sz="1000">
              <a:solidFill>
                <a:srgbClr val="E69138"/>
              </a:solidFill>
              <a:latin typeface="Poppins"/>
              <a:ea typeface="Poppins"/>
              <a:cs typeface="Poppins"/>
              <a:sym typeface="Poppins"/>
            </a:endParaRPr>
          </a:p>
        </p:txBody>
      </p:sp>
      <p:sp>
        <p:nvSpPr>
          <p:cNvPr id="337" name="Google Shape;337;p34"/>
          <p:cNvSpPr/>
          <p:nvPr/>
        </p:nvSpPr>
        <p:spPr>
          <a:xfrm>
            <a:off x="2509300" y="3159775"/>
            <a:ext cx="1622100" cy="4353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900">
              <a:solidFill>
                <a:srgbClr val="E69138"/>
              </a:solidFill>
              <a:latin typeface="Poppins"/>
              <a:ea typeface="Poppins"/>
              <a:cs typeface="Poppins"/>
              <a:sym typeface="Poppins"/>
            </a:endParaRPr>
          </a:p>
        </p:txBody>
      </p:sp>
      <p:sp>
        <p:nvSpPr>
          <p:cNvPr id="338" name="Google Shape;338;p34"/>
          <p:cNvSpPr txBox="1"/>
          <p:nvPr>
            <p:ph idx="4294967295" type="subTitle"/>
          </p:nvPr>
        </p:nvSpPr>
        <p:spPr>
          <a:xfrm>
            <a:off x="2579648" y="3194863"/>
            <a:ext cx="1374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000" u="sng">
                <a:solidFill>
                  <a:srgbClr val="E69138"/>
                </a:solidFill>
                <a:latin typeface="Poppins"/>
                <a:ea typeface="Poppins"/>
                <a:cs typeface="Poppins"/>
                <a:sym typeface="Poppins"/>
                <a:hlinkClick r:id="rId5">
                  <a:extLst>
                    <a:ext uri="{A12FA001-AC4F-418D-AE19-62706E023703}">
                      <ahyp:hlinkClr val="tx"/>
                    </a:ext>
                  </a:extLst>
                </a:hlinkClick>
              </a:rPr>
              <a:t>Link Google Colab</a:t>
            </a:r>
            <a:endParaRPr b="1" sz="1000">
              <a:solidFill>
                <a:srgbClr val="E69138"/>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2" name="Shape 342"/>
        <p:cNvGrpSpPr/>
        <p:nvPr/>
      </p:nvGrpSpPr>
      <p:grpSpPr>
        <a:xfrm>
          <a:off x="0" y="0"/>
          <a:ext cx="0" cy="0"/>
          <a:chOff x="0" y="0"/>
          <a:chExt cx="0" cy="0"/>
        </a:xfrm>
      </p:grpSpPr>
      <p:sp>
        <p:nvSpPr>
          <p:cNvPr id="343" name="Google Shape;343;p35"/>
          <p:cNvSpPr txBox="1"/>
          <p:nvPr/>
        </p:nvSpPr>
        <p:spPr>
          <a:xfrm>
            <a:off x="28900" y="196325"/>
            <a:ext cx="2500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E69138"/>
                </a:solidFill>
                <a:latin typeface="Poppins"/>
                <a:ea typeface="Poppins"/>
                <a:cs typeface="Poppins"/>
                <a:sym typeface="Poppins"/>
              </a:rPr>
              <a:t>DASHBOARD</a:t>
            </a:r>
            <a:endParaRPr b="1" sz="2500">
              <a:solidFill>
                <a:srgbClr val="E69138"/>
              </a:solidFill>
              <a:latin typeface="Poppins"/>
              <a:ea typeface="Poppins"/>
              <a:cs typeface="Poppins"/>
              <a:sym typeface="Poppins"/>
            </a:endParaRPr>
          </a:p>
        </p:txBody>
      </p:sp>
      <p:sp>
        <p:nvSpPr>
          <p:cNvPr id="344" name="Google Shape;344;p35"/>
          <p:cNvSpPr txBox="1"/>
          <p:nvPr/>
        </p:nvSpPr>
        <p:spPr>
          <a:xfrm>
            <a:off x="6513173" y="2371650"/>
            <a:ext cx="22833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en" sz="1000" u="sng">
                <a:solidFill>
                  <a:srgbClr val="E69138"/>
                </a:solidFill>
                <a:latin typeface="Poppins"/>
                <a:ea typeface="Poppins"/>
                <a:cs typeface="Poppins"/>
                <a:sym typeface="Poppins"/>
                <a:hlinkClick r:id="rId3">
                  <a:extLst>
                    <a:ext uri="{A12FA001-AC4F-418D-AE19-62706E023703}">
                      <ahyp:hlinkClr val="tx"/>
                    </a:ext>
                  </a:extLst>
                </a:hlinkClick>
              </a:rPr>
              <a:t>Link Dashboard Tableau Public</a:t>
            </a:r>
            <a:endParaRPr b="1" sz="1000">
              <a:solidFill>
                <a:srgbClr val="E69138"/>
              </a:solidFill>
              <a:latin typeface="Poppins"/>
              <a:ea typeface="Poppins"/>
              <a:cs typeface="Poppins"/>
              <a:sym typeface="Poppins"/>
            </a:endParaRPr>
          </a:p>
        </p:txBody>
      </p:sp>
      <p:pic>
        <p:nvPicPr>
          <p:cNvPr id="345" name="Google Shape;345;p35"/>
          <p:cNvPicPr preferRelativeResize="0"/>
          <p:nvPr/>
        </p:nvPicPr>
        <p:blipFill>
          <a:blip r:embed="rId4">
            <a:alphaModFix/>
          </a:blip>
          <a:stretch>
            <a:fillRect/>
          </a:stretch>
        </p:blipFill>
        <p:spPr>
          <a:xfrm>
            <a:off x="274150" y="848650"/>
            <a:ext cx="6165775" cy="3458925"/>
          </a:xfrm>
          <a:prstGeom prst="rect">
            <a:avLst/>
          </a:prstGeom>
          <a:noFill/>
          <a:ln cap="flat" cmpd="sng" w="19050">
            <a:solidFill>
              <a:srgbClr val="E69138"/>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9" name="Shape 349"/>
        <p:cNvGrpSpPr/>
        <p:nvPr/>
      </p:nvGrpSpPr>
      <p:grpSpPr>
        <a:xfrm>
          <a:off x="0" y="0"/>
          <a:ext cx="0" cy="0"/>
          <a:chOff x="0" y="0"/>
          <a:chExt cx="0" cy="0"/>
        </a:xfrm>
      </p:grpSpPr>
      <p:sp>
        <p:nvSpPr>
          <p:cNvPr id="350" name="Google Shape;350;p36"/>
          <p:cNvSpPr txBox="1"/>
          <p:nvPr>
            <p:ph type="ctrTitle"/>
          </p:nvPr>
        </p:nvSpPr>
        <p:spPr>
          <a:xfrm>
            <a:off x="576525" y="1279575"/>
            <a:ext cx="7801500" cy="92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Terima Kasih</a:t>
            </a:r>
            <a:endParaRPr b="1">
              <a:solidFill>
                <a:srgbClr val="E69138"/>
              </a:solidFill>
              <a:latin typeface="Poppins"/>
              <a:ea typeface="Poppins"/>
              <a:cs typeface="Poppins"/>
              <a:sym typeface="Poppins"/>
            </a:endParaRPr>
          </a:p>
        </p:txBody>
      </p:sp>
      <p:pic>
        <p:nvPicPr>
          <p:cNvPr id="351" name="Google Shape;351;p36"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52" name="Google Shape;352;p36"/>
          <p:cNvSpPr txBox="1"/>
          <p:nvPr/>
        </p:nvSpPr>
        <p:spPr>
          <a:xfrm>
            <a:off x="285600" y="2151075"/>
            <a:ext cx="857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E69138"/>
                </a:solidFill>
                <a:latin typeface="Poppins"/>
                <a:ea typeface="Poppins"/>
                <a:cs typeface="Poppins"/>
                <a:sym typeface="Poppins"/>
              </a:rPr>
              <a:t>“Analyzing and Evaluating App Funnel (E-CommerceU)”</a:t>
            </a:r>
            <a:endParaRPr b="1" sz="2000">
              <a:solidFill>
                <a:srgbClr val="E69138"/>
              </a:solidFill>
              <a:latin typeface="Poppins"/>
              <a:ea typeface="Poppins"/>
              <a:cs typeface="Poppins"/>
              <a:sym typeface="Poppins"/>
            </a:endParaRPr>
          </a:p>
        </p:txBody>
      </p:sp>
      <p:sp>
        <p:nvSpPr>
          <p:cNvPr id="353" name="Google Shape;353;p36"/>
          <p:cNvSpPr/>
          <p:nvPr/>
        </p:nvSpPr>
        <p:spPr>
          <a:xfrm>
            <a:off x="5933850" y="-38250"/>
            <a:ext cx="6251100" cy="1534500"/>
          </a:xfrm>
          <a:prstGeom prst="chord">
            <a:avLst>
              <a:gd fmla="val 5111805" name="adj1"/>
              <a:gd fmla="val 1651842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54" name="Google Shape;354;p36"/>
          <p:cNvSpPr/>
          <p:nvPr/>
        </p:nvSpPr>
        <p:spPr>
          <a:xfrm>
            <a:off x="2264950" y="3298500"/>
            <a:ext cx="1847100" cy="7008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Poppins"/>
              <a:ea typeface="Poppins"/>
              <a:cs typeface="Poppins"/>
              <a:sym typeface="Poppins"/>
            </a:endParaRPr>
          </a:p>
        </p:txBody>
      </p:sp>
      <p:sp>
        <p:nvSpPr>
          <p:cNvPr id="355" name="Google Shape;355;p36"/>
          <p:cNvSpPr txBox="1"/>
          <p:nvPr>
            <p:ph idx="1" type="subTitle"/>
          </p:nvPr>
        </p:nvSpPr>
        <p:spPr>
          <a:xfrm>
            <a:off x="2335300" y="3448800"/>
            <a:ext cx="17064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u="sng">
                <a:solidFill>
                  <a:srgbClr val="E69138"/>
                </a:solidFill>
                <a:latin typeface="Poppins"/>
                <a:ea typeface="Poppins"/>
                <a:cs typeface="Poppins"/>
                <a:sym typeface="Poppins"/>
                <a:hlinkClick r:id="rId4">
                  <a:extLst>
                    <a:ext uri="{A12FA001-AC4F-418D-AE19-62706E023703}">
                      <ahyp:hlinkClr val="tx"/>
                    </a:ext>
                  </a:extLst>
                </a:hlinkClick>
              </a:rPr>
              <a:t>Link Tableau Public</a:t>
            </a:r>
            <a:endParaRPr b="1" sz="1200">
              <a:solidFill>
                <a:srgbClr val="E69138"/>
              </a:solidFill>
              <a:latin typeface="Poppins"/>
              <a:ea typeface="Poppins"/>
              <a:cs typeface="Poppins"/>
              <a:sym typeface="Poppins"/>
            </a:endParaRPr>
          </a:p>
        </p:txBody>
      </p:sp>
      <p:sp>
        <p:nvSpPr>
          <p:cNvPr id="356" name="Google Shape;356;p36"/>
          <p:cNvSpPr/>
          <p:nvPr/>
        </p:nvSpPr>
        <p:spPr>
          <a:xfrm>
            <a:off x="5135900" y="3298500"/>
            <a:ext cx="1847100" cy="7008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Poppins"/>
              <a:ea typeface="Poppins"/>
              <a:cs typeface="Poppins"/>
              <a:sym typeface="Poppins"/>
            </a:endParaRPr>
          </a:p>
        </p:txBody>
      </p:sp>
      <p:sp>
        <p:nvSpPr>
          <p:cNvPr id="357" name="Google Shape;357;p36"/>
          <p:cNvSpPr txBox="1"/>
          <p:nvPr>
            <p:ph idx="1" type="subTitle"/>
          </p:nvPr>
        </p:nvSpPr>
        <p:spPr>
          <a:xfrm>
            <a:off x="5206250" y="3448800"/>
            <a:ext cx="17064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u="sng">
                <a:solidFill>
                  <a:srgbClr val="E69138"/>
                </a:solidFill>
                <a:latin typeface="Poppins"/>
                <a:ea typeface="Poppins"/>
                <a:cs typeface="Poppins"/>
                <a:sym typeface="Poppins"/>
                <a:hlinkClick r:id="rId5">
                  <a:extLst>
                    <a:ext uri="{A12FA001-AC4F-418D-AE19-62706E023703}">
                      <ahyp:hlinkClr val="tx"/>
                    </a:ext>
                  </a:extLst>
                </a:hlinkClick>
              </a:rPr>
              <a:t>Link Google Colab</a:t>
            </a:r>
            <a:endParaRPr b="1" sz="1200">
              <a:solidFill>
                <a:srgbClr val="E69138"/>
              </a:solidFill>
              <a:latin typeface="Poppins"/>
              <a:ea typeface="Poppins"/>
              <a:cs typeface="Poppins"/>
              <a:sym typeface="Poppins"/>
            </a:endParaRPr>
          </a:p>
        </p:txBody>
      </p:sp>
      <p:sp>
        <p:nvSpPr>
          <p:cNvPr id="358" name="Google Shape;358;p36"/>
          <p:cNvSpPr/>
          <p:nvPr/>
        </p:nvSpPr>
        <p:spPr>
          <a:xfrm flipH="1">
            <a:off x="-3046600" y="3915325"/>
            <a:ext cx="6251100" cy="1534500"/>
          </a:xfrm>
          <a:prstGeom prst="chord">
            <a:avLst>
              <a:gd fmla="val 5111805" name="adj1"/>
              <a:gd fmla="val 1651842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2" name="Shape 362"/>
        <p:cNvGrpSpPr/>
        <p:nvPr/>
      </p:nvGrpSpPr>
      <p:grpSpPr>
        <a:xfrm>
          <a:off x="0" y="0"/>
          <a:ext cx="0" cy="0"/>
          <a:chOff x="0" y="0"/>
          <a:chExt cx="0" cy="0"/>
        </a:xfrm>
      </p:grpSpPr>
      <p:sp>
        <p:nvSpPr>
          <p:cNvPr id="363" name="Google Shape;363;p37"/>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E69138"/>
                </a:solidFill>
                <a:latin typeface="Poppins"/>
                <a:ea typeface="Poppins"/>
                <a:cs typeface="Poppins"/>
                <a:sym typeface="Poppins"/>
              </a:rPr>
              <a:t>DATA CLEANING</a:t>
            </a:r>
            <a:endParaRPr b="1">
              <a:solidFill>
                <a:srgbClr val="E69138"/>
              </a:solidFill>
              <a:latin typeface="Poppins"/>
              <a:ea typeface="Poppins"/>
              <a:cs typeface="Poppins"/>
              <a:sym typeface="Poppins"/>
            </a:endParaRPr>
          </a:p>
        </p:txBody>
      </p:sp>
      <p:sp>
        <p:nvSpPr>
          <p:cNvPr id="364" name="Google Shape;364;p37"/>
          <p:cNvSpPr txBox="1"/>
          <p:nvPr>
            <p:ph idx="4294967295" type="body"/>
          </p:nvPr>
        </p:nvSpPr>
        <p:spPr>
          <a:xfrm>
            <a:off x="311700" y="1152475"/>
            <a:ext cx="3749400" cy="240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E69138"/>
                </a:solidFill>
                <a:latin typeface="Poppins"/>
                <a:ea typeface="Poppins"/>
                <a:cs typeface="Poppins"/>
                <a:sym typeface="Poppins"/>
              </a:rPr>
              <a:t>Mengubah tipe data</a:t>
            </a:r>
            <a:endParaRPr b="1" sz="1600">
              <a:solidFill>
                <a:srgbClr val="E69138"/>
              </a:solidFill>
              <a:latin typeface="Poppins"/>
              <a:ea typeface="Poppins"/>
              <a:cs typeface="Poppins"/>
              <a:sym typeface="Poppins"/>
            </a:endParaRPr>
          </a:p>
          <a:p>
            <a:pPr indent="0" lvl="0" marL="0" rtl="0" algn="l">
              <a:spcBef>
                <a:spcPts val="1600"/>
              </a:spcBef>
              <a:spcAft>
                <a:spcPts val="0"/>
              </a:spcAft>
              <a:buNone/>
            </a:pPr>
            <a:r>
              <a:rPr lang="en" sz="1300">
                <a:solidFill>
                  <a:srgbClr val="E69138"/>
                </a:solidFill>
                <a:latin typeface="Poppins"/>
                <a:ea typeface="Poppins"/>
                <a:cs typeface="Poppins"/>
                <a:sym typeface="Poppins"/>
              </a:rPr>
              <a:t>Object &gt; date (tabel.kolom)</a:t>
            </a:r>
            <a:endParaRPr sz="1300">
              <a:solidFill>
                <a:srgbClr val="E69138"/>
              </a:solidFill>
              <a:latin typeface="Poppins"/>
              <a:ea typeface="Poppins"/>
              <a:cs typeface="Poppins"/>
              <a:sym typeface="Poppins"/>
            </a:endParaRPr>
          </a:p>
          <a:p>
            <a:pPr indent="0" lvl="0" marL="0" rtl="0" algn="l">
              <a:lnSpc>
                <a:spcPct val="100000"/>
              </a:lnSpc>
              <a:spcBef>
                <a:spcPts val="1600"/>
              </a:spcBef>
              <a:spcAft>
                <a:spcPts val="0"/>
              </a:spcAft>
              <a:buNone/>
            </a:pPr>
            <a:r>
              <a:rPr lang="en" sz="1300">
                <a:solidFill>
                  <a:srgbClr val="E69138"/>
                </a:solidFill>
                <a:latin typeface="Poppins"/>
                <a:ea typeface="Poppins"/>
                <a:cs typeface="Poppins"/>
                <a:sym typeface="Poppins"/>
              </a:rPr>
              <a:t>event.timestamp</a:t>
            </a:r>
            <a:endParaRPr sz="13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300">
                <a:solidFill>
                  <a:srgbClr val="E69138"/>
                </a:solidFill>
                <a:latin typeface="Poppins"/>
                <a:ea typeface="Poppins"/>
                <a:cs typeface="Poppins"/>
                <a:sym typeface="Poppins"/>
              </a:rPr>
              <a:t>sessions.visits_timestamp</a:t>
            </a:r>
            <a:endParaRPr sz="13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300">
                <a:solidFill>
                  <a:srgbClr val="E69138"/>
                </a:solidFill>
                <a:latin typeface="Poppins"/>
                <a:ea typeface="Poppins"/>
                <a:cs typeface="Poppins"/>
                <a:sym typeface="Poppins"/>
              </a:rPr>
              <a:t>transactions.transactions_timestamp</a:t>
            </a:r>
            <a:endParaRPr sz="13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300">
                <a:solidFill>
                  <a:srgbClr val="E69138"/>
                </a:solidFill>
                <a:latin typeface="Poppins"/>
                <a:ea typeface="Poppins"/>
                <a:cs typeface="Poppins"/>
                <a:sym typeface="Poppins"/>
              </a:rPr>
              <a:t>u</a:t>
            </a:r>
            <a:r>
              <a:rPr lang="en" sz="1300">
                <a:solidFill>
                  <a:srgbClr val="E69138"/>
                </a:solidFill>
                <a:latin typeface="Poppins"/>
                <a:ea typeface="Poppins"/>
                <a:cs typeface="Poppins"/>
                <a:sym typeface="Poppins"/>
              </a:rPr>
              <a:t>sers.register_date</a:t>
            </a:r>
            <a:endParaRPr sz="13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300">
                <a:solidFill>
                  <a:srgbClr val="E69138"/>
                </a:solidFill>
                <a:latin typeface="Poppins"/>
                <a:ea typeface="Poppins"/>
                <a:cs typeface="Poppins"/>
                <a:sym typeface="Poppins"/>
              </a:rPr>
              <a:t>users.first_visit</a:t>
            </a:r>
            <a:endParaRPr sz="1300">
              <a:solidFill>
                <a:srgbClr val="E69138"/>
              </a:solidFill>
              <a:latin typeface="Poppins"/>
              <a:ea typeface="Poppins"/>
              <a:cs typeface="Poppins"/>
              <a:sym typeface="Poppins"/>
            </a:endParaRPr>
          </a:p>
        </p:txBody>
      </p:sp>
      <p:pic>
        <p:nvPicPr>
          <p:cNvPr id="365" name="Google Shape;365;p37"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66" name="Google Shape;366;p37"/>
          <p:cNvSpPr txBox="1"/>
          <p:nvPr>
            <p:ph idx="4294967295" type="body"/>
          </p:nvPr>
        </p:nvSpPr>
        <p:spPr>
          <a:xfrm>
            <a:off x="4734625" y="1114586"/>
            <a:ext cx="3999900" cy="901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1600">
                <a:solidFill>
                  <a:srgbClr val="E69138"/>
                </a:solidFill>
                <a:latin typeface="Poppins"/>
                <a:ea typeface="Poppins"/>
                <a:cs typeface="Poppins"/>
                <a:sym typeface="Poppins"/>
              </a:rPr>
              <a:t>Mengidentifikasi dan Menangani Missing Values (NaN)</a:t>
            </a:r>
            <a:endParaRPr sz="1600">
              <a:solidFill>
                <a:srgbClr val="E69138"/>
              </a:solidFill>
              <a:latin typeface="Poppins"/>
              <a:ea typeface="Poppins"/>
              <a:cs typeface="Poppins"/>
              <a:sym typeface="Poppins"/>
            </a:endParaRPr>
          </a:p>
        </p:txBody>
      </p:sp>
      <p:pic>
        <p:nvPicPr>
          <p:cNvPr id="367" name="Google Shape;367;p37"/>
          <p:cNvPicPr preferRelativeResize="0"/>
          <p:nvPr/>
        </p:nvPicPr>
        <p:blipFill>
          <a:blip r:embed="rId4">
            <a:alphaModFix/>
          </a:blip>
          <a:stretch>
            <a:fillRect/>
          </a:stretch>
        </p:blipFill>
        <p:spPr>
          <a:xfrm>
            <a:off x="4813907" y="2046782"/>
            <a:ext cx="3841326" cy="614375"/>
          </a:xfrm>
          <a:prstGeom prst="rect">
            <a:avLst/>
          </a:prstGeom>
          <a:noFill/>
          <a:ln cap="flat" cmpd="sng" w="28575">
            <a:solidFill>
              <a:srgbClr val="F6B26B"/>
            </a:solidFill>
            <a:prstDash val="solid"/>
            <a:round/>
            <a:headEnd len="sm" w="sm" type="none"/>
            <a:tailEnd len="sm" w="sm" type="none"/>
          </a:ln>
        </p:spPr>
      </p:pic>
      <p:pic>
        <p:nvPicPr>
          <p:cNvPr id="368" name="Google Shape;368;p37"/>
          <p:cNvPicPr preferRelativeResize="0"/>
          <p:nvPr/>
        </p:nvPicPr>
        <p:blipFill>
          <a:blip r:embed="rId5">
            <a:alphaModFix/>
          </a:blip>
          <a:stretch>
            <a:fillRect/>
          </a:stretch>
        </p:blipFill>
        <p:spPr>
          <a:xfrm>
            <a:off x="373425" y="3658225"/>
            <a:ext cx="3999901" cy="664543"/>
          </a:xfrm>
          <a:prstGeom prst="rect">
            <a:avLst/>
          </a:prstGeom>
          <a:noFill/>
          <a:ln cap="flat" cmpd="sng" w="28575">
            <a:solidFill>
              <a:srgbClr val="F6B26B"/>
            </a:solidFill>
            <a:prstDash val="solid"/>
            <a:round/>
            <a:headEnd len="sm" w="sm" type="none"/>
            <a:tailEnd len="sm" w="sm" type="none"/>
          </a:ln>
        </p:spPr>
      </p:pic>
      <p:pic>
        <p:nvPicPr>
          <p:cNvPr id="369" name="Google Shape;369;p37"/>
          <p:cNvPicPr preferRelativeResize="0"/>
          <p:nvPr/>
        </p:nvPicPr>
        <p:blipFill>
          <a:blip r:embed="rId6">
            <a:alphaModFix/>
          </a:blip>
          <a:stretch>
            <a:fillRect/>
          </a:stretch>
        </p:blipFill>
        <p:spPr>
          <a:xfrm>
            <a:off x="4813900" y="2740900"/>
            <a:ext cx="2950300" cy="2010200"/>
          </a:xfrm>
          <a:prstGeom prst="rect">
            <a:avLst/>
          </a:prstGeom>
          <a:noFill/>
          <a:ln cap="flat" cmpd="sng" w="28575">
            <a:solidFill>
              <a:srgbClr val="F6B26B"/>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3" name="Shape 373"/>
        <p:cNvGrpSpPr/>
        <p:nvPr/>
      </p:nvGrpSpPr>
      <p:grpSpPr>
        <a:xfrm>
          <a:off x="0" y="0"/>
          <a:ext cx="0" cy="0"/>
          <a:chOff x="0" y="0"/>
          <a:chExt cx="0" cy="0"/>
        </a:xfrm>
      </p:grpSpPr>
      <p:pic>
        <p:nvPicPr>
          <p:cNvPr id="374" name="Google Shape;374;p38"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75" name="Google Shape;375;p38"/>
          <p:cNvSpPr txBox="1"/>
          <p:nvPr>
            <p:ph idx="4294967295" type="body"/>
          </p:nvPr>
        </p:nvSpPr>
        <p:spPr>
          <a:xfrm>
            <a:off x="618925" y="655025"/>
            <a:ext cx="3749400" cy="3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E69138"/>
                </a:solidFill>
                <a:latin typeface="Poppins"/>
                <a:ea typeface="Poppins"/>
                <a:cs typeface="Poppins"/>
                <a:sym typeface="Poppins"/>
              </a:rPr>
              <a:t>Standarisasi Nama kolom</a:t>
            </a:r>
            <a:endParaRPr b="1" sz="1600">
              <a:solidFill>
                <a:srgbClr val="E69138"/>
              </a:solidFill>
              <a:latin typeface="Poppins"/>
              <a:ea typeface="Poppins"/>
              <a:cs typeface="Poppins"/>
              <a:sym typeface="Poppins"/>
            </a:endParaRPr>
          </a:p>
          <a:p>
            <a:pPr indent="0" lvl="0" marL="0" rtl="0" algn="l">
              <a:lnSpc>
                <a:spcPct val="100000"/>
              </a:lnSpc>
              <a:spcBef>
                <a:spcPts val="1600"/>
              </a:spcBef>
              <a:spcAft>
                <a:spcPts val="0"/>
              </a:spcAft>
              <a:buNone/>
            </a:pPr>
            <a:r>
              <a:rPr lang="en" sz="1200">
                <a:solidFill>
                  <a:srgbClr val="E69138"/>
                </a:solidFill>
                <a:latin typeface="Poppins"/>
                <a:ea typeface="Poppins"/>
                <a:cs typeface="Poppins"/>
                <a:sym typeface="Poppins"/>
              </a:rPr>
              <a:t>product name   -&gt; product_name</a:t>
            </a:r>
            <a:endParaRPr sz="12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200">
                <a:solidFill>
                  <a:srgbClr val="E69138"/>
                </a:solidFill>
                <a:latin typeface="Poppins"/>
                <a:ea typeface="Poppins"/>
                <a:cs typeface="Poppins"/>
                <a:sym typeface="Poppins"/>
              </a:rPr>
              <a:t>product qty    -&gt; product_qty</a:t>
            </a:r>
            <a:endParaRPr sz="12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200">
                <a:solidFill>
                  <a:srgbClr val="E69138"/>
                </a:solidFill>
                <a:latin typeface="Poppins"/>
                <a:ea typeface="Poppins"/>
                <a:cs typeface="Poppins"/>
                <a:sym typeface="Poppins"/>
              </a:rPr>
              <a:t>product amount -&gt; product_amount</a:t>
            </a:r>
            <a:endParaRPr sz="12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rPr lang="en" sz="1200">
                <a:solidFill>
                  <a:srgbClr val="E69138"/>
                </a:solidFill>
                <a:latin typeface="Poppins"/>
                <a:ea typeface="Poppins"/>
                <a:cs typeface="Poppins"/>
                <a:sym typeface="Poppins"/>
              </a:rPr>
              <a:t>product price  -&gt; product_price</a:t>
            </a:r>
            <a:endParaRPr sz="12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t/>
            </a:r>
            <a:endParaRPr sz="1600">
              <a:solidFill>
                <a:srgbClr val="E69138"/>
              </a:solidFill>
            </a:endParaRPr>
          </a:p>
          <a:p>
            <a:pPr indent="0" lvl="0" marL="0" rtl="0" algn="l">
              <a:lnSpc>
                <a:spcPct val="100000"/>
              </a:lnSpc>
              <a:spcBef>
                <a:spcPts val="0"/>
              </a:spcBef>
              <a:spcAft>
                <a:spcPts val="0"/>
              </a:spcAft>
              <a:buNone/>
            </a:pPr>
            <a:r>
              <a:t/>
            </a:r>
            <a:endParaRPr sz="1600">
              <a:solidFill>
                <a:srgbClr val="E69138"/>
              </a:solidFill>
            </a:endParaRPr>
          </a:p>
        </p:txBody>
      </p:sp>
      <p:pic>
        <p:nvPicPr>
          <p:cNvPr id="376" name="Google Shape;376;p38"/>
          <p:cNvPicPr preferRelativeResize="0"/>
          <p:nvPr/>
        </p:nvPicPr>
        <p:blipFill rotWithShape="1">
          <a:blip r:embed="rId4">
            <a:alphaModFix/>
          </a:blip>
          <a:srcRect b="10153" l="0" r="0" t="0"/>
          <a:stretch/>
        </p:blipFill>
        <p:spPr>
          <a:xfrm>
            <a:off x="699050" y="2970125"/>
            <a:ext cx="5285275" cy="551450"/>
          </a:xfrm>
          <a:prstGeom prst="rect">
            <a:avLst/>
          </a:prstGeom>
          <a:noFill/>
          <a:ln cap="flat" cmpd="sng" w="28575">
            <a:solidFill>
              <a:srgbClr val="B45F06"/>
            </a:solidFill>
            <a:prstDash val="solid"/>
            <a:round/>
            <a:headEnd len="sm" w="sm" type="none"/>
            <a:tailEnd len="sm" w="sm" type="none"/>
          </a:ln>
        </p:spPr>
      </p:pic>
      <p:pic>
        <p:nvPicPr>
          <p:cNvPr id="377" name="Google Shape;377;p38"/>
          <p:cNvPicPr preferRelativeResize="0"/>
          <p:nvPr/>
        </p:nvPicPr>
        <p:blipFill>
          <a:blip r:embed="rId5">
            <a:alphaModFix/>
          </a:blip>
          <a:stretch>
            <a:fillRect/>
          </a:stretch>
        </p:blipFill>
        <p:spPr>
          <a:xfrm>
            <a:off x="4034449" y="604488"/>
            <a:ext cx="2099900" cy="1893100"/>
          </a:xfrm>
          <a:prstGeom prst="rect">
            <a:avLst/>
          </a:prstGeom>
          <a:noFill/>
          <a:ln cap="flat" cmpd="sng" w="28575">
            <a:solidFill>
              <a:srgbClr val="B45F06"/>
            </a:solidFill>
            <a:prstDash val="solid"/>
            <a:round/>
            <a:headEnd len="sm" w="sm" type="none"/>
            <a:tailEnd len="sm" w="sm" type="none"/>
          </a:ln>
        </p:spPr>
      </p:pic>
      <p:pic>
        <p:nvPicPr>
          <p:cNvPr id="378" name="Google Shape;378;p38"/>
          <p:cNvPicPr preferRelativeResize="0"/>
          <p:nvPr/>
        </p:nvPicPr>
        <p:blipFill>
          <a:blip r:embed="rId6">
            <a:alphaModFix/>
          </a:blip>
          <a:stretch>
            <a:fillRect/>
          </a:stretch>
        </p:blipFill>
        <p:spPr>
          <a:xfrm>
            <a:off x="6295373" y="560927"/>
            <a:ext cx="2717725" cy="1980225"/>
          </a:xfrm>
          <a:prstGeom prst="rect">
            <a:avLst/>
          </a:prstGeom>
          <a:noFill/>
          <a:ln cap="flat" cmpd="sng" w="28575">
            <a:solidFill>
              <a:srgbClr val="B45F06"/>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2" name="Shape 382"/>
        <p:cNvGrpSpPr/>
        <p:nvPr/>
      </p:nvGrpSpPr>
      <p:grpSpPr>
        <a:xfrm>
          <a:off x="0" y="0"/>
          <a:ext cx="0" cy="0"/>
          <a:chOff x="0" y="0"/>
          <a:chExt cx="0" cy="0"/>
        </a:xfrm>
      </p:grpSpPr>
      <p:sp>
        <p:nvSpPr>
          <p:cNvPr id="383" name="Google Shape;383;p39"/>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200">
                <a:solidFill>
                  <a:srgbClr val="E69138"/>
                </a:solidFill>
                <a:latin typeface="Poppins"/>
                <a:ea typeface="Poppins"/>
                <a:cs typeface="Poppins"/>
                <a:sym typeface="Poppins"/>
              </a:rPr>
              <a:t>Exploratory Data Analysis (EDA)</a:t>
            </a:r>
            <a:endParaRPr b="1" sz="4200">
              <a:solidFill>
                <a:srgbClr val="E69138"/>
              </a:solidFill>
              <a:latin typeface="Poppins"/>
              <a:ea typeface="Poppins"/>
              <a:cs typeface="Poppins"/>
              <a:sym typeface="Poppins"/>
            </a:endParaRPr>
          </a:p>
          <a:p>
            <a:pPr indent="0" lvl="0" marL="0" rtl="0" algn="ctr">
              <a:spcBef>
                <a:spcPts val="0"/>
              </a:spcBef>
              <a:spcAft>
                <a:spcPts val="0"/>
              </a:spcAft>
              <a:buNone/>
            </a:pPr>
            <a:r>
              <a:rPr lang="en" sz="2500">
                <a:solidFill>
                  <a:srgbClr val="E69138"/>
                </a:solidFill>
                <a:latin typeface="Poppins"/>
                <a:ea typeface="Poppins"/>
                <a:cs typeface="Poppins"/>
                <a:sym typeface="Poppins"/>
              </a:rPr>
              <a:t>E-CommerceU</a:t>
            </a:r>
            <a:endParaRPr sz="2500">
              <a:solidFill>
                <a:srgbClr val="E69138"/>
              </a:solidFill>
              <a:latin typeface="Poppins"/>
              <a:ea typeface="Poppins"/>
              <a:cs typeface="Poppins"/>
              <a:sym typeface="Poppins"/>
            </a:endParaRPr>
          </a:p>
        </p:txBody>
      </p:sp>
      <p:pic>
        <p:nvPicPr>
          <p:cNvPr id="384" name="Google Shape;384;p39"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85" name="Google Shape;385;p39"/>
          <p:cNvSpPr/>
          <p:nvPr/>
        </p:nvSpPr>
        <p:spPr>
          <a:xfrm rot="-10070070">
            <a:off x="639002" y="3154998"/>
            <a:ext cx="2375957" cy="1671038"/>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86" name="Google Shape;386;p39"/>
          <p:cNvSpPr/>
          <p:nvPr/>
        </p:nvSpPr>
        <p:spPr>
          <a:xfrm rot="-10070070">
            <a:off x="362783" y="3233834"/>
            <a:ext cx="2375957" cy="1671038"/>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87" name="Google Shape;387;p39"/>
          <p:cNvSpPr/>
          <p:nvPr/>
        </p:nvSpPr>
        <p:spPr>
          <a:xfrm rot="10681040">
            <a:off x="580366" y="2559479"/>
            <a:ext cx="2375922" cy="1671093"/>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88" name="Google Shape;388;p39"/>
          <p:cNvSpPr/>
          <p:nvPr/>
        </p:nvSpPr>
        <p:spPr>
          <a:xfrm rot="101654">
            <a:off x="6187442" y="378972"/>
            <a:ext cx="2222171" cy="1660299"/>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89" name="Google Shape;389;p39"/>
          <p:cNvSpPr/>
          <p:nvPr/>
        </p:nvSpPr>
        <p:spPr>
          <a:xfrm rot="101654">
            <a:off x="6376857" y="797290"/>
            <a:ext cx="2222171" cy="1660299"/>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390" name="Google Shape;390;p39"/>
          <p:cNvSpPr/>
          <p:nvPr/>
        </p:nvSpPr>
        <p:spPr>
          <a:xfrm rot="-787358">
            <a:off x="6276047" y="680679"/>
            <a:ext cx="2254267" cy="1639244"/>
          </a:xfrm>
          <a:prstGeom prst="arc">
            <a:avLst>
              <a:gd fmla="val 16200000" name="adj1"/>
              <a:gd fmla="val 2250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4" name="Shape 394"/>
        <p:cNvGrpSpPr/>
        <p:nvPr/>
      </p:nvGrpSpPr>
      <p:grpSpPr>
        <a:xfrm>
          <a:off x="0" y="0"/>
          <a:ext cx="0" cy="0"/>
          <a:chOff x="0" y="0"/>
          <a:chExt cx="0" cy="0"/>
        </a:xfrm>
      </p:grpSpPr>
      <p:pic>
        <p:nvPicPr>
          <p:cNvPr id="395" name="Google Shape;395;p40"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396" name="Google Shape;396;p40"/>
          <p:cNvSpPr txBox="1"/>
          <p:nvPr>
            <p:ph idx="4294967295" type="body"/>
          </p:nvPr>
        </p:nvSpPr>
        <p:spPr>
          <a:xfrm>
            <a:off x="618925" y="655025"/>
            <a:ext cx="3749400" cy="3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E69138"/>
                </a:solidFill>
                <a:latin typeface="Poppins"/>
                <a:ea typeface="Poppins"/>
                <a:cs typeface="Poppins"/>
                <a:sym typeface="Poppins"/>
              </a:rPr>
              <a:t>Nilai Uang yang dihabiskan pengguna</a:t>
            </a:r>
            <a:endParaRPr b="1" sz="2100">
              <a:solidFill>
                <a:srgbClr val="E69138"/>
              </a:solidFill>
              <a:latin typeface="Poppins"/>
              <a:ea typeface="Poppins"/>
              <a:cs typeface="Poppins"/>
              <a:sym typeface="Poppins"/>
            </a:endParaRPr>
          </a:p>
          <a:p>
            <a:pPr indent="0" lvl="0" marL="0" rtl="0" algn="l">
              <a:lnSpc>
                <a:spcPct val="100000"/>
              </a:lnSpc>
              <a:spcBef>
                <a:spcPts val="1600"/>
              </a:spcBef>
              <a:spcAft>
                <a:spcPts val="0"/>
              </a:spcAft>
              <a:buNone/>
            </a:pPr>
            <a:r>
              <a:rPr lang="en" sz="1100">
                <a:solidFill>
                  <a:srgbClr val="E69138"/>
                </a:solidFill>
                <a:latin typeface="Poppins"/>
                <a:ea typeface="Poppins"/>
                <a:cs typeface="Poppins"/>
                <a:sym typeface="Poppins"/>
              </a:rPr>
              <a:t>Diketahui bahwa:</a:t>
            </a:r>
            <a:endParaRPr sz="1100">
              <a:solidFill>
                <a:srgbClr val="E69138"/>
              </a:solidFill>
              <a:latin typeface="Poppins"/>
              <a:ea typeface="Poppins"/>
              <a:cs typeface="Poppins"/>
              <a:sym typeface="Poppins"/>
            </a:endParaRPr>
          </a:p>
          <a:p>
            <a:pPr indent="-298450" lvl="0" marL="457200" rtl="0" algn="just">
              <a:lnSpc>
                <a:spcPct val="100000"/>
              </a:lnSpc>
              <a:spcBef>
                <a:spcPts val="0"/>
              </a:spcBef>
              <a:spcAft>
                <a:spcPts val="0"/>
              </a:spcAft>
              <a:buClr>
                <a:srgbClr val="E69138"/>
              </a:buClr>
              <a:buSzPts val="1100"/>
              <a:buFont typeface="Poppins"/>
              <a:buChar char="●"/>
            </a:pPr>
            <a:r>
              <a:rPr lang="en" sz="1100">
                <a:solidFill>
                  <a:srgbClr val="E69138"/>
                </a:solidFill>
                <a:latin typeface="Poppins"/>
                <a:ea typeface="Poppins"/>
                <a:cs typeface="Poppins"/>
                <a:sym typeface="Poppins"/>
              </a:rPr>
              <a:t>Rata-rata pengguna menghabiskan Rp 1.310.965 per transaksi</a:t>
            </a:r>
            <a:endParaRPr sz="1100">
              <a:solidFill>
                <a:srgbClr val="E69138"/>
              </a:solidFill>
              <a:latin typeface="Poppins"/>
              <a:ea typeface="Poppins"/>
              <a:cs typeface="Poppins"/>
              <a:sym typeface="Poppins"/>
            </a:endParaRPr>
          </a:p>
          <a:p>
            <a:pPr indent="-298450" lvl="0" marL="457200" rtl="0" algn="just">
              <a:lnSpc>
                <a:spcPct val="100000"/>
              </a:lnSpc>
              <a:spcBef>
                <a:spcPts val="0"/>
              </a:spcBef>
              <a:spcAft>
                <a:spcPts val="0"/>
              </a:spcAft>
              <a:buClr>
                <a:srgbClr val="E69138"/>
              </a:buClr>
              <a:buSzPts val="1100"/>
              <a:buFont typeface="Poppins"/>
              <a:buChar char="●"/>
            </a:pPr>
            <a:r>
              <a:rPr lang="en" sz="1100">
                <a:solidFill>
                  <a:srgbClr val="E69138"/>
                </a:solidFill>
                <a:latin typeface="Poppins"/>
                <a:ea typeface="Poppins"/>
                <a:cs typeface="Poppins"/>
                <a:sym typeface="Poppins"/>
              </a:rPr>
              <a:t>Minimal Transaksi Rp 15.000 dan Maksimal Transaksi sebesar Rp 6.250.000</a:t>
            </a:r>
            <a:endParaRPr sz="1100">
              <a:solidFill>
                <a:srgbClr val="E69138"/>
              </a:solidFill>
              <a:latin typeface="Poppins"/>
              <a:ea typeface="Poppins"/>
              <a:cs typeface="Poppins"/>
              <a:sym typeface="Poppins"/>
            </a:endParaRPr>
          </a:p>
          <a:p>
            <a:pPr indent="-298450" lvl="0" marL="457200" rtl="0" algn="just">
              <a:lnSpc>
                <a:spcPct val="100000"/>
              </a:lnSpc>
              <a:spcBef>
                <a:spcPts val="0"/>
              </a:spcBef>
              <a:spcAft>
                <a:spcPts val="0"/>
              </a:spcAft>
              <a:buClr>
                <a:srgbClr val="E69138"/>
              </a:buClr>
              <a:buSzPts val="1100"/>
              <a:buFont typeface="Poppins"/>
              <a:buChar char="●"/>
            </a:pPr>
            <a:r>
              <a:rPr lang="en" sz="1100">
                <a:solidFill>
                  <a:srgbClr val="E69138"/>
                </a:solidFill>
                <a:latin typeface="Poppins"/>
                <a:ea typeface="Poppins"/>
                <a:cs typeface="Poppins"/>
                <a:sym typeface="Poppins"/>
              </a:rPr>
              <a:t>Nilai rata-rata (Rp 1,31 juta) lebih tinggi dari nilai tengah atau 50% / Median (berbelanja dalam nominal sangat besar hingga </a:t>
            </a:r>
            <a:r>
              <a:rPr lang="en" sz="1200">
                <a:solidFill>
                  <a:srgbClr val="E69138"/>
                </a:solidFill>
                <a:latin typeface="Poppins"/>
                <a:ea typeface="Poppins"/>
                <a:cs typeface="Poppins"/>
                <a:sym typeface="Poppins"/>
              </a:rPr>
              <a:t>menarik angka rata-rata ke atas</a:t>
            </a:r>
            <a:r>
              <a:rPr lang="en" sz="1100">
                <a:solidFill>
                  <a:srgbClr val="E69138"/>
                </a:solidFill>
                <a:latin typeface="Poppins"/>
                <a:ea typeface="Poppins"/>
                <a:cs typeface="Poppins"/>
                <a:sym typeface="Poppins"/>
              </a:rPr>
              <a:t>).</a:t>
            </a:r>
            <a:endParaRPr sz="1100">
              <a:solidFill>
                <a:srgbClr val="E69138"/>
              </a:solidFill>
              <a:latin typeface="Poppins"/>
              <a:ea typeface="Poppins"/>
              <a:cs typeface="Poppins"/>
              <a:sym typeface="Poppins"/>
            </a:endParaRPr>
          </a:p>
        </p:txBody>
      </p:sp>
      <p:pic>
        <p:nvPicPr>
          <p:cNvPr id="397" name="Google Shape;397;p40"/>
          <p:cNvPicPr preferRelativeResize="0"/>
          <p:nvPr/>
        </p:nvPicPr>
        <p:blipFill>
          <a:blip r:embed="rId4">
            <a:alphaModFix/>
          </a:blip>
          <a:stretch>
            <a:fillRect/>
          </a:stretch>
        </p:blipFill>
        <p:spPr>
          <a:xfrm>
            <a:off x="4902450" y="731025"/>
            <a:ext cx="2372175" cy="2462950"/>
          </a:xfrm>
          <a:prstGeom prst="rect">
            <a:avLst/>
          </a:prstGeom>
          <a:noFill/>
          <a:ln cap="flat" cmpd="sng" w="28575">
            <a:solidFill>
              <a:srgbClr val="E69138"/>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1" name="Shape 401"/>
        <p:cNvGrpSpPr/>
        <p:nvPr/>
      </p:nvGrpSpPr>
      <p:grpSpPr>
        <a:xfrm>
          <a:off x="0" y="0"/>
          <a:ext cx="0" cy="0"/>
          <a:chOff x="0" y="0"/>
          <a:chExt cx="0" cy="0"/>
        </a:xfrm>
      </p:grpSpPr>
      <p:pic>
        <p:nvPicPr>
          <p:cNvPr id="402" name="Google Shape;402;p41"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403" name="Google Shape;403;p41"/>
          <p:cNvSpPr txBox="1"/>
          <p:nvPr>
            <p:ph idx="4294967295" type="body"/>
          </p:nvPr>
        </p:nvSpPr>
        <p:spPr>
          <a:xfrm>
            <a:off x="505275" y="636075"/>
            <a:ext cx="3749400" cy="3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E69138"/>
                </a:solidFill>
                <a:latin typeface="Poppins"/>
                <a:ea typeface="Poppins"/>
                <a:cs typeface="Poppins"/>
                <a:sym typeface="Poppins"/>
              </a:rPr>
              <a:t>Gender dan Age</a:t>
            </a:r>
            <a:endParaRPr b="1" sz="2100">
              <a:solidFill>
                <a:srgbClr val="E69138"/>
              </a:solidFill>
              <a:latin typeface="Poppins"/>
              <a:ea typeface="Poppins"/>
              <a:cs typeface="Poppins"/>
              <a:sym typeface="Poppins"/>
            </a:endParaRPr>
          </a:p>
          <a:p>
            <a:pPr indent="0" lvl="0" marL="0" rtl="0" algn="l">
              <a:lnSpc>
                <a:spcPct val="100000"/>
              </a:lnSpc>
              <a:spcBef>
                <a:spcPts val="1600"/>
              </a:spcBef>
              <a:spcAft>
                <a:spcPts val="0"/>
              </a:spcAft>
              <a:buNone/>
            </a:pPr>
            <a:r>
              <a:rPr lang="en" sz="1100">
                <a:solidFill>
                  <a:srgbClr val="E69138"/>
                </a:solidFill>
                <a:latin typeface="Poppins"/>
                <a:ea typeface="Poppins"/>
                <a:cs typeface="Poppins"/>
                <a:sym typeface="Poppins"/>
              </a:rPr>
              <a:t>Diketahui bahwa:</a:t>
            </a:r>
            <a:endParaRPr sz="1100">
              <a:solidFill>
                <a:srgbClr val="E69138"/>
              </a:solidFill>
              <a:latin typeface="Poppins"/>
              <a:ea typeface="Poppins"/>
              <a:cs typeface="Poppins"/>
              <a:sym typeface="Poppins"/>
            </a:endParaRPr>
          </a:p>
          <a:p>
            <a:pPr indent="-298450" lvl="0" marL="457200" rtl="0" algn="just">
              <a:lnSpc>
                <a:spcPct val="100000"/>
              </a:lnSpc>
              <a:spcBef>
                <a:spcPts val="0"/>
              </a:spcBef>
              <a:spcAft>
                <a:spcPts val="0"/>
              </a:spcAft>
              <a:buClr>
                <a:srgbClr val="E69138"/>
              </a:buClr>
              <a:buSzPts val="1100"/>
              <a:buFont typeface="Poppins"/>
              <a:buChar char="●"/>
            </a:pPr>
            <a:r>
              <a:rPr lang="en" sz="1100">
                <a:solidFill>
                  <a:srgbClr val="E69138"/>
                </a:solidFill>
                <a:latin typeface="Poppins"/>
                <a:ea typeface="Poppins"/>
                <a:cs typeface="Poppins"/>
                <a:sym typeface="Poppins"/>
              </a:rPr>
              <a:t>Pengguna perempuan (5.635) jauh lebih banyak dibandingkan laki-laki (3.521). E-commerce ini memiliki pangsa pasar sekitar 61% perempuan.</a:t>
            </a:r>
            <a:endParaRPr sz="1100">
              <a:solidFill>
                <a:srgbClr val="E69138"/>
              </a:solidFill>
              <a:latin typeface="Poppins"/>
              <a:ea typeface="Poppins"/>
              <a:cs typeface="Poppins"/>
              <a:sym typeface="Poppins"/>
            </a:endParaRPr>
          </a:p>
          <a:p>
            <a:pPr indent="-298450" lvl="0" marL="457200" rtl="0" algn="just">
              <a:lnSpc>
                <a:spcPct val="100000"/>
              </a:lnSpc>
              <a:spcBef>
                <a:spcPts val="0"/>
              </a:spcBef>
              <a:spcAft>
                <a:spcPts val="0"/>
              </a:spcAft>
              <a:buClr>
                <a:srgbClr val="E69138"/>
              </a:buClr>
              <a:buSzPts val="1100"/>
              <a:buFont typeface="Poppins"/>
              <a:buChar char="●"/>
            </a:pPr>
            <a:r>
              <a:rPr lang="en" sz="1100">
                <a:solidFill>
                  <a:srgbClr val="E69138"/>
                </a:solidFill>
                <a:latin typeface="Poppins"/>
                <a:ea typeface="Poppins"/>
                <a:cs typeface="Poppins"/>
                <a:sym typeface="Poppins"/>
              </a:rPr>
              <a:t>Rata-rata usia pengguna adalah 34 tahun, dengan nilai tengah (Median / 50%) di usia 31 tahun. Melihat dari rentang Quartile (25% ke 75%), mayoritas pembeli inti berada di usia produktif, yaitu 23 hingga 43 tahun. Platform ini tetap ramah digunakan lintas generasi, terbukti dari jangkauan usia pengguna termuda (15 tahun) hingga tertua (65 tahun).</a:t>
            </a:r>
            <a:endParaRPr sz="1100">
              <a:solidFill>
                <a:srgbClr val="E69138"/>
              </a:solidFill>
              <a:latin typeface="Poppins"/>
              <a:ea typeface="Poppins"/>
              <a:cs typeface="Poppins"/>
              <a:sym typeface="Poppins"/>
            </a:endParaRPr>
          </a:p>
        </p:txBody>
      </p:sp>
      <p:pic>
        <p:nvPicPr>
          <p:cNvPr id="404" name="Google Shape;404;p41"/>
          <p:cNvPicPr preferRelativeResize="0"/>
          <p:nvPr/>
        </p:nvPicPr>
        <p:blipFill>
          <a:blip r:embed="rId4">
            <a:alphaModFix/>
          </a:blip>
          <a:stretch>
            <a:fillRect/>
          </a:stretch>
        </p:blipFill>
        <p:spPr>
          <a:xfrm>
            <a:off x="6607950" y="842950"/>
            <a:ext cx="1789399" cy="1644724"/>
          </a:xfrm>
          <a:prstGeom prst="rect">
            <a:avLst/>
          </a:prstGeom>
          <a:noFill/>
          <a:ln cap="flat" cmpd="sng" w="28575">
            <a:solidFill>
              <a:srgbClr val="E69138"/>
            </a:solidFill>
            <a:prstDash val="solid"/>
            <a:round/>
            <a:headEnd len="sm" w="sm" type="none"/>
            <a:tailEnd len="sm" w="sm" type="none"/>
          </a:ln>
        </p:spPr>
      </p:pic>
      <p:pic>
        <p:nvPicPr>
          <p:cNvPr id="405" name="Google Shape;405;p41"/>
          <p:cNvPicPr preferRelativeResize="0"/>
          <p:nvPr/>
        </p:nvPicPr>
        <p:blipFill>
          <a:blip r:embed="rId5">
            <a:alphaModFix/>
          </a:blip>
          <a:stretch>
            <a:fillRect/>
          </a:stretch>
        </p:blipFill>
        <p:spPr>
          <a:xfrm>
            <a:off x="4531025" y="842950"/>
            <a:ext cx="1857375" cy="3457575"/>
          </a:xfrm>
          <a:prstGeom prst="rect">
            <a:avLst/>
          </a:prstGeom>
          <a:noFill/>
          <a:ln cap="flat" cmpd="sng" w="28575">
            <a:solidFill>
              <a:srgbClr val="E69138"/>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9" name="Shape 409"/>
        <p:cNvGrpSpPr/>
        <p:nvPr/>
      </p:nvGrpSpPr>
      <p:grpSpPr>
        <a:xfrm>
          <a:off x="0" y="0"/>
          <a:ext cx="0" cy="0"/>
          <a:chOff x="0" y="0"/>
          <a:chExt cx="0" cy="0"/>
        </a:xfrm>
      </p:grpSpPr>
      <p:pic>
        <p:nvPicPr>
          <p:cNvPr id="410" name="Google Shape;410;p42"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411" name="Google Shape;411;p42"/>
          <p:cNvSpPr txBox="1"/>
          <p:nvPr>
            <p:ph idx="4294967295" type="body"/>
          </p:nvPr>
        </p:nvSpPr>
        <p:spPr>
          <a:xfrm>
            <a:off x="618925" y="522412"/>
            <a:ext cx="3749400" cy="3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E69138"/>
                </a:solidFill>
                <a:latin typeface="Poppins"/>
                <a:ea typeface="Poppins"/>
                <a:cs typeface="Poppins"/>
                <a:sym typeface="Poppins"/>
              </a:rPr>
              <a:t>Top Product</a:t>
            </a:r>
            <a:endParaRPr b="1" sz="2100">
              <a:solidFill>
                <a:srgbClr val="E69138"/>
              </a:solidFill>
              <a:latin typeface="Poppins"/>
              <a:ea typeface="Poppins"/>
              <a:cs typeface="Poppins"/>
              <a:sym typeface="Poppins"/>
            </a:endParaRPr>
          </a:p>
          <a:p>
            <a:pPr indent="0" lvl="0" marL="0" rtl="0" algn="just">
              <a:lnSpc>
                <a:spcPct val="100000"/>
              </a:lnSpc>
              <a:spcBef>
                <a:spcPts val="1600"/>
              </a:spcBef>
              <a:spcAft>
                <a:spcPts val="0"/>
              </a:spcAft>
              <a:buNone/>
            </a:pPr>
            <a:r>
              <a:rPr lang="en" sz="1100">
                <a:solidFill>
                  <a:srgbClr val="E69138"/>
                </a:solidFill>
                <a:latin typeface="Poppins"/>
                <a:ea typeface="Poppins"/>
                <a:cs typeface="Poppins"/>
                <a:sym typeface="Poppins"/>
              </a:rPr>
              <a:t>Diketahui bahwa:</a:t>
            </a:r>
            <a:endParaRPr sz="11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lang="en" sz="1100">
                <a:solidFill>
                  <a:srgbClr val="E69138"/>
                </a:solidFill>
                <a:latin typeface="Poppins"/>
                <a:ea typeface="Poppins"/>
                <a:cs typeface="Poppins"/>
                <a:sym typeface="Poppins"/>
              </a:rPr>
              <a:t>Clothing (pakaian) menempati urutan pertama barang yang paling sering dibeli, kemudian Health&amp;care yang tidak kalah banyak jumlahnya, lalu turun signifikan pada Mothers&amp;Care dan seterusnya.</a:t>
            </a:r>
            <a:endParaRPr sz="11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t/>
            </a:r>
            <a:endParaRPr sz="1100">
              <a:solidFill>
                <a:srgbClr val="E69138"/>
              </a:solidFill>
              <a:latin typeface="Poppins"/>
              <a:ea typeface="Poppins"/>
              <a:cs typeface="Poppins"/>
              <a:sym typeface="Poppins"/>
            </a:endParaRPr>
          </a:p>
        </p:txBody>
      </p:sp>
      <p:pic>
        <p:nvPicPr>
          <p:cNvPr id="412" name="Google Shape;412;p42"/>
          <p:cNvPicPr preferRelativeResize="0"/>
          <p:nvPr/>
        </p:nvPicPr>
        <p:blipFill>
          <a:blip r:embed="rId4">
            <a:alphaModFix/>
          </a:blip>
          <a:stretch>
            <a:fillRect/>
          </a:stretch>
        </p:blipFill>
        <p:spPr>
          <a:xfrm>
            <a:off x="2283575" y="2211224"/>
            <a:ext cx="4981450" cy="2430300"/>
          </a:xfrm>
          <a:prstGeom prst="rect">
            <a:avLst/>
          </a:prstGeom>
          <a:noFill/>
          <a:ln cap="flat" cmpd="sng" w="28575">
            <a:solidFill>
              <a:srgbClr val="E69138"/>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6" name="Shape 416"/>
        <p:cNvGrpSpPr/>
        <p:nvPr/>
      </p:nvGrpSpPr>
      <p:grpSpPr>
        <a:xfrm>
          <a:off x="0" y="0"/>
          <a:ext cx="0" cy="0"/>
          <a:chOff x="0" y="0"/>
          <a:chExt cx="0" cy="0"/>
        </a:xfrm>
      </p:grpSpPr>
      <p:pic>
        <p:nvPicPr>
          <p:cNvPr id="417" name="Google Shape;417;p43"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418" name="Google Shape;418;p43"/>
          <p:cNvSpPr txBox="1"/>
          <p:nvPr>
            <p:ph idx="4294967295" type="body"/>
          </p:nvPr>
        </p:nvSpPr>
        <p:spPr>
          <a:xfrm>
            <a:off x="618925" y="655025"/>
            <a:ext cx="3749400" cy="37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E69138"/>
                </a:solidFill>
                <a:latin typeface="Poppins"/>
                <a:ea typeface="Poppins"/>
                <a:cs typeface="Poppins"/>
                <a:sym typeface="Poppins"/>
              </a:rPr>
              <a:t>Users by Location</a:t>
            </a:r>
            <a:endParaRPr b="1" sz="2100">
              <a:solidFill>
                <a:srgbClr val="E69138"/>
              </a:solidFill>
              <a:latin typeface="Poppins"/>
              <a:ea typeface="Poppins"/>
              <a:cs typeface="Poppins"/>
              <a:sym typeface="Poppins"/>
            </a:endParaRPr>
          </a:p>
          <a:p>
            <a:pPr indent="0" lvl="0" marL="0" rtl="0" algn="l">
              <a:lnSpc>
                <a:spcPct val="100000"/>
              </a:lnSpc>
              <a:spcBef>
                <a:spcPts val="1600"/>
              </a:spcBef>
              <a:spcAft>
                <a:spcPts val="0"/>
              </a:spcAft>
              <a:buNone/>
            </a:pPr>
            <a:r>
              <a:rPr b="1" lang="en" sz="1100">
                <a:solidFill>
                  <a:srgbClr val="E69138"/>
                </a:solidFill>
                <a:latin typeface="Poppins"/>
                <a:ea typeface="Poppins"/>
                <a:cs typeface="Poppins"/>
                <a:sym typeface="Poppins"/>
              </a:rPr>
              <a:t>Diketahui bahwa:</a:t>
            </a:r>
            <a:endParaRPr b="1" sz="1100">
              <a:solidFill>
                <a:srgbClr val="E69138"/>
              </a:solidFill>
              <a:latin typeface="Poppins"/>
              <a:ea typeface="Poppins"/>
              <a:cs typeface="Poppins"/>
              <a:sym typeface="Poppins"/>
            </a:endParaRPr>
          </a:p>
          <a:p>
            <a:pPr indent="0" lvl="0" marL="0" rtl="0" algn="just">
              <a:lnSpc>
                <a:spcPct val="100000"/>
              </a:lnSpc>
              <a:spcBef>
                <a:spcPts val="0"/>
              </a:spcBef>
              <a:spcAft>
                <a:spcPts val="0"/>
              </a:spcAft>
              <a:buNone/>
            </a:pPr>
            <a:r>
              <a:rPr lang="en" sz="1100">
                <a:solidFill>
                  <a:srgbClr val="E69138"/>
                </a:solidFill>
                <a:latin typeface="Poppins"/>
                <a:ea typeface="Poppins"/>
                <a:cs typeface="Poppins"/>
                <a:sym typeface="Poppins"/>
              </a:rPr>
              <a:t>User paling banyak berada di Jakarta Selatan diikuti kota tangerang dan seterusnya. User paling sedikit berada di kota </a:t>
            </a:r>
            <a:r>
              <a:rPr lang="en" sz="1100">
                <a:solidFill>
                  <a:srgbClr val="E69138"/>
                </a:solidFill>
                <a:latin typeface="Poppins"/>
                <a:ea typeface="Poppins"/>
                <a:cs typeface="Poppins"/>
                <a:sym typeface="Poppins"/>
              </a:rPr>
              <a:t>Semarang </a:t>
            </a:r>
            <a:endParaRPr sz="1100">
              <a:solidFill>
                <a:srgbClr val="E69138"/>
              </a:solidFill>
              <a:latin typeface="Poppins"/>
              <a:ea typeface="Poppins"/>
              <a:cs typeface="Poppins"/>
              <a:sym typeface="Poppins"/>
            </a:endParaRPr>
          </a:p>
          <a:p>
            <a:pPr indent="0" lvl="0" marL="0" rtl="0" algn="l">
              <a:lnSpc>
                <a:spcPct val="100000"/>
              </a:lnSpc>
              <a:spcBef>
                <a:spcPts val="0"/>
              </a:spcBef>
              <a:spcAft>
                <a:spcPts val="0"/>
              </a:spcAft>
              <a:buNone/>
            </a:pPr>
            <a:r>
              <a:t/>
            </a:r>
            <a:endParaRPr sz="1100">
              <a:solidFill>
                <a:srgbClr val="E69138"/>
              </a:solidFill>
              <a:latin typeface="Poppins"/>
              <a:ea typeface="Poppins"/>
              <a:cs typeface="Poppins"/>
              <a:sym typeface="Poppins"/>
            </a:endParaRPr>
          </a:p>
        </p:txBody>
      </p:sp>
      <p:pic>
        <p:nvPicPr>
          <p:cNvPr id="419" name="Google Shape;419;p43"/>
          <p:cNvPicPr preferRelativeResize="0"/>
          <p:nvPr/>
        </p:nvPicPr>
        <p:blipFill>
          <a:blip r:embed="rId4">
            <a:alphaModFix/>
          </a:blip>
          <a:stretch>
            <a:fillRect/>
          </a:stretch>
        </p:blipFill>
        <p:spPr>
          <a:xfrm>
            <a:off x="4725475" y="152400"/>
            <a:ext cx="3875274" cy="4838700"/>
          </a:xfrm>
          <a:prstGeom prst="rect">
            <a:avLst/>
          </a:prstGeom>
          <a:noFill/>
          <a:ln cap="flat" cmpd="sng" w="28575">
            <a:solidFill>
              <a:srgbClr val="E69138"/>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3" name="Shape 423"/>
        <p:cNvGrpSpPr/>
        <p:nvPr/>
      </p:nvGrpSpPr>
      <p:grpSpPr>
        <a:xfrm>
          <a:off x="0" y="0"/>
          <a:ext cx="0" cy="0"/>
          <a:chOff x="0" y="0"/>
          <a:chExt cx="0" cy="0"/>
        </a:xfrm>
      </p:grpSpPr>
      <p:pic>
        <p:nvPicPr>
          <p:cNvPr id="424" name="Google Shape;424;p44"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425" name="Google Shape;425;p44"/>
          <p:cNvSpPr txBox="1"/>
          <p:nvPr>
            <p:ph idx="4294967295" type="body"/>
          </p:nvPr>
        </p:nvSpPr>
        <p:spPr>
          <a:xfrm>
            <a:off x="638971" y="480714"/>
            <a:ext cx="4126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100">
                <a:solidFill>
                  <a:srgbClr val="E69138"/>
                </a:solidFill>
                <a:latin typeface="Poppins"/>
                <a:ea typeface="Poppins"/>
                <a:cs typeface="Poppins"/>
                <a:sym typeface="Poppins"/>
              </a:rPr>
              <a:t>Transaction and User Profile</a:t>
            </a:r>
            <a:endParaRPr sz="1100">
              <a:solidFill>
                <a:srgbClr val="E69138"/>
              </a:solidFill>
              <a:latin typeface="Poppins"/>
              <a:ea typeface="Poppins"/>
              <a:cs typeface="Poppins"/>
              <a:sym typeface="Poppins"/>
            </a:endParaRPr>
          </a:p>
        </p:txBody>
      </p:sp>
      <p:sp>
        <p:nvSpPr>
          <p:cNvPr id="426" name="Google Shape;426;p44"/>
          <p:cNvSpPr txBox="1"/>
          <p:nvPr/>
        </p:nvSpPr>
        <p:spPr>
          <a:xfrm>
            <a:off x="669050" y="3208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E69138"/>
                </a:solidFill>
                <a:latin typeface="Poppins"/>
                <a:ea typeface="Poppins"/>
                <a:cs typeface="Poppins"/>
                <a:sym typeface="Poppins"/>
              </a:rPr>
              <a:t>EXPLORATORY DATA ANALYSIS (EDA)</a:t>
            </a:r>
            <a:endParaRPr sz="1200"/>
          </a:p>
        </p:txBody>
      </p:sp>
      <p:sp>
        <p:nvSpPr>
          <p:cNvPr id="427" name="Google Shape;427;p44"/>
          <p:cNvSpPr/>
          <p:nvPr/>
        </p:nvSpPr>
        <p:spPr>
          <a:xfrm>
            <a:off x="594475" y="1258975"/>
            <a:ext cx="3977400" cy="11229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Rata-rata Transaksi</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b="1" lang="en" sz="1600">
                <a:solidFill>
                  <a:srgbClr val="E69138"/>
                </a:solidFill>
                <a:latin typeface="Poppins"/>
                <a:ea typeface="Poppins"/>
                <a:cs typeface="Poppins"/>
                <a:sym typeface="Poppins"/>
              </a:rPr>
              <a:t>Rp 1,310,965</a:t>
            </a:r>
            <a:endParaRPr b="1" sz="1600">
              <a:solidFill>
                <a:srgbClr val="E69138"/>
              </a:solidFill>
              <a:latin typeface="Poppins"/>
              <a:ea typeface="Poppins"/>
              <a:cs typeface="Poppins"/>
              <a:sym typeface="Poppins"/>
            </a:endParaRPr>
          </a:p>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800">
                <a:solidFill>
                  <a:srgbClr val="E69138"/>
                </a:solidFill>
                <a:latin typeface="Poppins"/>
                <a:ea typeface="Poppins"/>
                <a:cs typeface="Poppins"/>
                <a:sym typeface="Poppins"/>
              </a:rPr>
              <a:t>Mean &gt; Median -&gt; Right skewed (high spenders exist)</a:t>
            </a:r>
            <a:endParaRPr sz="800">
              <a:solidFill>
                <a:srgbClr val="E69138"/>
              </a:solidFill>
              <a:latin typeface="Poppins"/>
              <a:ea typeface="Poppins"/>
              <a:cs typeface="Poppins"/>
              <a:sym typeface="Poppins"/>
            </a:endParaRPr>
          </a:p>
        </p:txBody>
      </p:sp>
      <p:sp>
        <p:nvSpPr>
          <p:cNvPr id="428" name="Google Shape;428;p44"/>
          <p:cNvSpPr/>
          <p:nvPr/>
        </p:nvSpPr>
        <p:spPr>
          <a:xfrm>
            <a:off x="594475" y="2474150"/>
            <a:ext cx="3977400" cy="11229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b="1" lang="en">
                <a:solidFill>
                  <a:srgbClr val="E69138"/>
                </a:solidFill>
                <a:latin typeface="Poppins"/>
                <a:ea typeface="Poppins"/>
                <a:cs typeface="Poppins"/>
                <a:sym typeface="Poppins"/>
              </a:rPr>
              <a:t>Dominasi Gender</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b="1" lang="en" sz="1600">
                <a:solidFill>
                  <a:srgbClr val="E69138"/>
                </a:solidFill>
                <a:latin typeface="Poppins"/>
                <a:ea typeface="Poppins"/>
                <a:cs typeface="Poppins"/>
                <a:sym typeface="Poppins"/>
              </a:rPr>
              <a:t>61% Perempuan</a:t>
            </a:r>
            <a:endParaRPr b="1" sz="1600">
              <a:solidFill>
                <a:srgbClr val="E69138"/>
              </a:solidFill>
              <a:latin typeface="Poppins"/>
              <a:ea typeface="Poppins"/>
              <a:cs typeface="Poppins"/>
              <a:sym typeface="Poppins"/>
            </a:endParaRPr>
          </a:p>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800">
                <a:solidFill>
                  <a:srgbClr val="E69138"/>
                </a:solidFill>
                <a:latin typeface="Poppins"/>
                <a:ea typeface="Poppins"/>
                <a:cs typeface="Poppins"/>
                <a:sym typeface="Poppins"/>
              </a:rPr>
              <a:t>5,635 Female vs 3,521 Male - target market utama</a:t>
            </a:r>
            <a:endParaRPr sz="800">
              <a:solidFill>
                <a:srgbClr val="E69138"/>
              </a:solidFill>
              <a:latin typeface="Poppins"/>
              <a:ea typeface="Poppins"/>
              <a:cs typeface="Poppins"/>
              <a:sym typeface="Poppins"/>
            </a:endParaRPr>
          </a:p>
          <a:p>
            <a:pPr indent="0" lvl="0" marL="0" rtl="0" algn="ctr">
              <a:spcBef>
                <a:spcPts val="0"/>
              </a:spcBef>
              <a:spcAft>
                <a:spcPts val="0"/>
              </a:spcAft>
              <a:buNone/>
            </a:pPr>
            <a:r>
              <a:t/>
            </a:r>
            <a:endParaRPr>
              <a:latin typeface="Average"/>
              <a:ea typeface="Average"/>
              <a:cs typeface="Average"/>
              <a:sym typeface="Average"/>
            </a:endParaRPr>
          </a:p>
        </p:txBody>
      </p:sp>
      <p:sp>
        <p:nvSpPr>
          <p:cNvPr id="429" name="Google Shape;429;p44"/>
          <p:cNvSpPr/>
          <p:nvPr/>
        </p:nvSpPr>
        <p:spPr>
          <a:xfrm>
            <a:off x="4647125" y="1258975"/>
            <a:ext cx="3977400" cy="11229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b="1" lang="en">
                <a:solidFill>
                  <a:srgbClr val="E69138"/>
                </a:solidFill>
                <a:latin typeface="Poppins"/>
                <a:ea typeface="Poppins"/>
                <a:cs typeface="Poppins"/>
                <a:sym typeface="Poppins"/>
              </a:rPr>
              <a:t>Transaksi Min/Max</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b="1" lang="en" sz="1600">
                <a:solidFill>
                  <a:srgbClr val="E69138"/>
                </a:solidFill>
                <a:latin typeface="Poppins"/>
                <a:ea typeface="Poppins"/>
                <a:cs typeface="Poppins"/>
                <a:sym typeface="Poppins"/>
              </a:rPr>
              <a:t>Rp 15rb / Rp 6,25M</a:t>
            </a:r>
            <a:endParaRPr b="1" sz="1600">
              <a:solidFill>
                <a:srgbClr val="E69138"/>
              </a:solidFill>
              <a:latin typeface="Poppins"/>
              <a:ea typeface="Poppins"/>
              <a:cs typeface="Poppins"/>
              <a:sym typeface="Poppins"/>
            </a:endParaRPr>
          </a:p>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800">
                <a:solidFill>
                  <a:srgbClr val="E69138"/>
                </a:solidFill>
                <a:latin typeface="Poppins"/>
                <a:ea typeface="Poppins"/>
                <a:cs typeface="Poppins"/>
                <a:sym typeface="Poppins"/>
              </a:rPr>
              <a:t>Range sangat lebar - ada user yang checkout barang murah untuk gratis ongkir</a:t>
            </a:r>
            <a:endParaRPr sz="800">
              <a:solidFill>
                <a:srgbClr val="E69138"/>
              </a:solidFill>
              <a:latin typeface="Poppins"/>
              <a:ea typeface="Poppins"/>
              <a:cs typeface="Poppins"/>
              <a:sym typeface="Poppins"/>
            </a:endParaRPr>
          </a:p>
        </p:txBody>
      </p:sp>
      <p:sp>
        <p:nvSpPr>
          <p:cNvPr id="430" name="Google Shape;430;p44"/>
          <p:cNvSpPr/>
          <p:nvPr/>
        </p:nvSpPr>
        <p:spPr>
          <a:xfrm>
            <a:off x="4647125" y="2474150"/>
            <a:ext cx="3977400" cy="11229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Rata-rata Usia</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b="1" lang="en" sz="1600">
                <a:solidFill>
                  <a:srgbClr val="E69138"/>
                </a:solidFill>
                <a:latin typeface="Poppins"/>
                <a:ea typeface="Poppins"/>
                <a:cs typeface="Poppins"/>
                <a:sym typeface="Poppins"/>
              </a:rPr>
              <a:t>34 tahun</a:t>
            </a:r>
            <a:endParaRPr b="1" sz="1600">
              <a:solidFill>
                <a:srgbClr val="E69138"/>
              </a:solidFill>
              <a:latin typeface="Poppins"/>
              <a:ea typeface="Poppins"/>
              <a:cs typeface="Poppins"/>
              <a:sym typeface="Poppins"/>
            </a:endParaRPr>
          </a:p>
          <a:p>
            <a:pPr indent="0" lvl="0" marL="0" rtl="0" algn="ctr">
              <a:spcBef>
                <a:spcPts val="0"/>
              </a:spcBef>
              <a:spcAft>
                <a:spcPts val="0"/>
              </a:spcAft>
              <a:buNone/>
            </a:pPr>
            <a:r>
              <a:t/>
            </a:r>
            <a:endParaRPr b="1">
              <a:solidFill>
                <a:srgbClr val="E69138"/>
              </a:solidFill>
              <a:latin typeface="Poppins"/>
              <a:ea typeface="Poppins"/>
              <a:cs typeface="Poppins"/>
              <a:sym typeface="Poppins"/>
            </a:endParaRPr>
          </a:p>
          <a:p>
            <a:pPr indent="0" lvl="0" marL="0" rtl="0" algn="ctr">
              <a:spcBef>
                <a:spcPts val="0"/>
              </a:spcBef>
              <a:spcAft>
                <a:spcPts val="0"/>
              </a:spcAft>
              <a:buNone/>
            </a:pPr>
            <a:r>
              <a:rPr lang="en" sz="800">
                <a:solidFill>
                  <a:srgbClr val="E69138"/>
                </a:solidFill>
                <a:latin typeface="Poppins"/>
                <a:ea typeface="Poppins"/>
                <a:cs typeface="Poppins"/>
                <a:sym typeface="Poppins"/>
              </a:rPr>
              <a:t> Median 31 tahun | Q1-Q3 : usia 23-43 | Range: 15-65 tahun</a:t>
            </a:r>
            <a:endParaRPr sz="800">
              <a:solidFill>
                <a:srgbClr val="E69138"/>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4" name="Shape 434"/>
        <p:cNvGrpSpPr/>
        <p:nvPr/>
      </p:nvGrpSpPr>
      <p:grpSpPr>
        <a:xfrm>
          <a:off x="0" y="0"/>
          <a:ext cx="0" cy="0"/>
          <a:chOff x="0" y="0"/>
          <a:chExt cx="0" cy="0"/>
        </a:xfrm>
      </p:grpSpPr>
      <p:sp>
        <p:nvSpPr>
          <p:cNvPr id="435" name="Google Shape;435;p45"/>
          <p:cNvSpPr txBox="1"/>
          <p:nvPr>
            <p:ph type="ctrTitle"/>
          </p:nvPr>
        </p:nvSpPr>
        <p:spPr>
          <a:xfrm>
            <a:off x="576525" y="1279575"/>
            <a:ext cx="7801500" cy="92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rgbClr val="E69138"/>
                </a:solidFill>
                <a:latin typeface="Poppins"/>
                <a:ea typeface="Poppins"/>
                <a:cs typeface="Poppins"/>
                <a:sym typeface="Poppins"/>
              </a:rPr>
              <a:t>Terima Kasih</a:t>
            </a:r>
            <a:endParaRPr b="1">
              <a:solidFill>
                <a:srgbClr val="E69138"/>
              </a:solidFill>
              <a:latin typeface="Poppins"/>
              <a:ea typeface="Poppins"/>
              <a:cs typeface="Poppins"/>
              <a:sym typeface="Poppins"/>
            </a:endParaRPr>
          </a:p>
        </p:txBody>
      </p:sp>
      <p:pic>
        <p:nvPicPr>
          <p:cNvPr id="436" name="Google Shape;436;p45" title="RevoU_Logo.png"/>
          <p:cNvPicPr preferRelativeResize="0"/>
          <p:nvPr/>
        </p:nvPicPr>
        <p:blipFill>
          <a:blip r:embed="rId3">
            <a:alphaModFix/>
          </a:blip>
          <a:stretch>
            <a:fillRect/>
          </a:stretch>
        </p:blipFill>
        <p:spPr>
          <a:xfrm>
            <a:off x="58750" y="79718"/>
            <a:ext cx="560179" cy="481201"/>
          </a:xfrm>
          <a:prstGeom prst="rect">
            <a:avLst/>
          </a:prstGeom>
          <a:noFill/>
          <a:ln>
            <a:noFill/>
          </a:ln>
        </p:spPr>
      </p:pic>
      <p:sp>
        <p:nvSpPr>
          <p:cNvPr id="437" name="Google Shape;437;p45"/>
          <p:cNvSpPr txBox="1"/>
          <p:nvPr/>
        </p:nvSpPr>
        <p:spPr>
          <a:xfrm>
            <a:off x="285600" y="2151075"/>
            <a:ext cx="8572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E69138"/>
                </a:solidFill>
                <a:latin typeface="Poppins"/>
                <a:ea typeface="Poppins"/>
                <a:cs typeface="Poppins"/>
                <a:sym typeface="Poppins"/>
              </a:rPr>
              <a:t>“Analyzing and Evaluating App Funnel (E-CommerceU)”</a:t>
            </a:r>
            <a:endParaRPr b="1" sz="2000">
              <a:solidFill>
                <a:srgbClr val="E69138"/>
              </a:solidFill>
              <a:latin typeface="Poppins"/>
              <a:ea typeface="Poppins"/>
              <a:cs typeface="Poppins"/>
              <a:sym typeface="Poppins"/>
            </a:endParaRPr>
          </a:p>
        </p:txBody>
      </p:sp>
      <p:sp>
        <p:nvSpPr>
          <p:cNvPr id="438" name="Google Shape;438;p45"/>
          <p:cNvSpPr/>
          <p:nvPr/>
        </p:nvSpPr>
        <p:spPr>
          <a:xfrm>
            <a:off x="5933850" y="-38250"/>
            <a:ext cx="6251100" cy="1534500"/>
          </a:xfrm>
          <a:prstGeom prst="chord">
            <a:avLst>
              <a:gd fmla="val 5111805" name="adj1"/>
              <a:gd fmla="val 1651842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439" name="Google Shape;439;p45"/>
          <p:cNvSpPr/>
          <p:nvPr/>
        </p:nvSpPr>
        <p:spPr>
          <a:xfrm>
            <a:off x="2264950" y="3298500"/>
            <a:ext cx="1847100" cy="7008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Poppins"/>
              <a:ea typeface="Poppins"/>
              <a:cs typeface="Poppins"/>
              <a:sym typeface="Poppins"/>
            </a:endParaRPr>
          </a:p>
        </p:txBody>
      </p:sp>
      <p:sp>
        <p:nvSpPr>
          <p:cNvPr id="440" name="Google Shape;440;p45"/>
          <p:cNvSpPr txBox="1"/>
          <p:nvPr>
            <p:ph idx="1" type="subTitle"/>
          </p:nvPr>
        </p:nvSpPr>
        <p:spPr>
          <a:xfrm>
            <a:off x="2335300" y="3448800"/>
            <a:ext cx="17064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u="sng">
                <a:solidFill>
                  <a:srgbClr val="E69138"/>
                </a:solidFill>
                <a:latin typeface="Poppins"/>
                <a:ea typeface="Poppins"/>
                <a:cs typeface="Poppins"/>
                <a:sym typeface="Poppins"/>
                <a:hlinkClick r:id="rId4">
                  <a:extLst>
                    <a:ext uri="{A12FA001-AC4F-418D-AE19-62706E023703}">
                      <ahyp:hlinkClr val="tx"/>
                    </a:ext>
                  </a:extLst>
                </a:hlinkClick>
              </a:rPr>
              <a:t>Link Tableau Public</a:t>
            </a:r>
            <a:endParaRPr b="1" sz="1200">
              <a:solidFill>
                <a:srgbClr val="E69138"/>
              </a:solidFill>
              <a:latin typeface="Poppins"/>
              <a:ea typeface="Poppins"/>
              <a:cs typeface="Poppins"/>
              <a:sym typeface="Poppins"/>
            </a:endParaRPr>
          </a:p>
        </p:txBody>
      </p:sp>
      <p:sp>
        <p:nvSpPr>
          <p:cNvPr id="441" name="Google Shape;441;p45"/>
          <p:cNvSpPr/>
          <p:nvPr/>
        </p:nvSpPr>
        <p:spPr>
          <a:xfrm>
            <a:off x="5135900" y="3298500"/>
            <a:ext cx="1847100" cy="700800"/>
          </a:xfrm>
          <a:prstGeom prst="roundRect">
            <a:avLst>
              <a:gd fmla="val 16667"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69138"/>
              </a:solidFill>
              <a:latin typeface="Poppins"/>
              <a:ea typeface="Poppins"/>
              <a:cs typeface="Poppins"/>
              <a:sym typeface="Poppins"/>
            </a:endParaRPr>
          </a:p>
        </p:txBody>
      </p:sp>
      <p:sp>
        <p:nvSpPr>
          <p:cNvPr id="442" name="Google Shape;442;p45"/>
          <p:cNvSpPr txBox="1"/>
          <p:nvPr>
            <p:ph idx="1" type="subTitle"/>
          </p:nvPr>
        </p:nvSpPr>
        <p:spPr>
          <a:xfrm>
            <a:off x="5206250" y="3448800"/>
            <a:ext cx="17064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u="sng">
                <a:solidFill>
                  <a:srgbClr val="E69138"/>
                </a:solidFill>
                <a:latin typeface="Poppins"/>
                <a:ea typeface="Poppins"/>
                <a:cs typeface="Poppins"/>
                <a:sym typeface="Poppins"/>
                <a:hlinkClick r:id="rId5">
                  <a:extLst>
                    <a:ext uri="{A12FA001-AC4F-418D-AE19-62706E023703}">
                      <ahyp:hlinkClr val="tx"/>
                    </a:ext>
                  </a:extLst>
                </a:hlinkClick>
              </a:rPr>
              <a:t>Link Google Colab</a:t>
            </a:r>
            <a:endParaRPr b="1" sz="1200">
              <a:solidFill>
                <a:srgbClr val="E69138"/>
              </a:solidFill>
              <a:latin typeface="Poppins"/>
              <a:ea typeface="Poppins"/>
              <a:cs typeface="Poppins"/>
              <a:sym typeface="Poppins"/>
            </a:endParaRPr>
          </a:p>
        </p:txBody>
      </p:sp>
      <p:sp>
        <p:nvSpPr>
          <p:cNvPr id="443" name="Google Shape;443;p45"/>
          <p:cNvSpPr/>
          <p:nvPr/>
        </p:nvSpPr>
        <p:spPr>
          <a:xfrm flipH="1">
            <a:off x="-3046600" y="3915325"/>
            <a:ext cx="6251100" cy="1534500"/>
          </a:xfrm>
          <a:prstGeom prst="chord">
            <a:avLst>
              <a:gd fmla="val 5111805" name="adj1"/>
              <a:gd fmla="val 1651842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